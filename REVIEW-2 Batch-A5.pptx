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334" r:id="rId2"/>
    <p:sldId id="289" r:id="rId3"/>
    <p:sldId id="273" r:id="rId4"/>
    <p:sldId id="335" r:id="rId5"/>
    <p:sldId id="336" r:id="rId6"/>
    <p:sldId id="355" r:id="rId7"/>
    <p:sldId id="338" r:id="rId8"/>
    <p:sldId id="339" r:id="rId9"/>
    <p:sldId id="340" r:id="rId10"/>
    <p:sldId id="356" r:id="rId11"/>
    <p:sldId id="357" r:id="rId12"/>
    <p:sldId id="358" r:id="rId13"/>
    <p:sldId id="347" r:id="rId14"/>
    <p:sldId id="348" r:id="rId15"/>
    <p:sldId id="349" r:id="rId16"/>
    <p:sldId id="352" r:id="rId17"/>
    <p:sldId id="353" r:id="rId18"/>
    <p:sldId id="354" r:id="rId19"/>
    <p:sldId id="350" r:id="rId20"/>
    <p:sldId id="345" r:id="rId21"/>
    <p:sldId id="272" r:id="rId22"/>
    <p:sldId id="33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344" autoAdjust="0"/>
  </p:normalViewPr>
  <p:slideViewPr>
    <p:cSldViewPr snapToGrid="0">
      <p:cViewPr>
        <p:scale>
          <a:sx n="70" d="100"/>
          <a:sy n="70" d="100"/>
        </p:scale>
        <p:origin x="-508" y="4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pPr/>
              <a:t>03-04-2026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pPr/>
              <a:t>03-04-2026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pPr/>
              <a:t>‹#›</a:t>
            </a:fld>
            <a:endParaRPr lang="en-IN"/>
          </a:p>
        </p:txBody>
      </p:sp>
    </p:spTree>
    <p:extLst>
      <p:ext uri="{BB962C8B-B14F-4D97-AF65-F5344CB8AC3E}">
        <p14:creationId xmlns:p14="http://schemas.microsoft.com/office/powerpoint/2010/main" val="2458778060"/>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pPr algn="ct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i="1" u="none" strike="noStrike" cap="none" dirty="0" smtClean="0">
                <a:solidFill>
                  <a:schemeClr val="lt1"/>
                </a:solidFill>
                <a:latin typeface="Times New Roman" panose="02020603050405020304"/>
                <a:ea typeface="Times New Roman" panose="02020603050405020304"/>
                <a:cs typeface="Times New Roman" panose="02020603050405020304"/>
                <a:sym typeface="Times New Roman" panose="02020603050405020304"/>
              </a:rPr>
              <a:t>AI-Powered</a:t>
            </a:r>
            <a:r>
              <a:rPr lang="en-US" sz="1500" b="1" i="1" u="none" strike="noStrike" cap="none" baseline="0" dirty="0" smtClean="0">
                <a:solidFill>
                  <a:schemeClr val="lt1"/>
                </a:solidFill>
                <a:latin typeface="Times New Roman" panose="02020603050405020304"/>
                <a:ea typeface="Times New Roman" panose="02020603050405020304"/>
                <a:cs typeface="Times New Roman" panose="02020603050405020304"/>
                <a:sym typeface="Times New Roman" panose="02020603050405020304"/>
              </a:rPr>
              <a:t> Handwritten Answer Sheet Evaluation System</a:t>
            </a:r>
            <a:endParaRPr lang="en-US" sz="1500" b="1" i="1" u="none" strike="noStrike" cap="none" dirty="0" smtClean="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t>
            </a:r>
            <a:r>
              <a:rPr lang="en-US" sz="1600" b="0" cap="small" baseline="0" dirty="0" smtClean="0">
                <a:solidFill>
                  <a:schemeClr val="bg1"/>
                </a:solidFill>
                <a:latin typeface="Times New Roman" panose="02020603050405020304" pitchFamily="18" charset="0"/>
                <a:cs typeface="Times New Roman" panose="02020603050405020304" pitchFamily="18" charset="0"/>
              </a:rPr>
              <a:t>A5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1"/>
        <p:cNvGrpSpPr/>
        <p:nvPr/>
      </p:nvGrpSpPr>
      <p:grpSpPr>
        <a:xfrm>
          <a:off x="0" y="0"/>
          <a:ext cx="0" cy="0"/>
          <a:chOff x="0" y="0"/>
          <a:chExt cx="0" cy="0"/>
        </a:xfrm>
      </p:grpSpPr>
      <p:sp>
        <p:nvSpPr>
          <p:cNvPr id="12" name="Google Shape;12;p2"/>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4;p2"/>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5;p2"/>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2"/>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0730415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5050947" y="1783000"/>
            <a:ext cx="2382924"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8800" b="0" dirty="0" smtClean="0">
                <a:effectLst>
                  <a:outerShdw blurRad="38100" dist="38100" dir="2700000" algn="tl">
                    <a:srgbClr val="000000">
                      <a:alpha val="43137"/>
                    </a:srgbClr>
                  </a:outerShdw>
                </a:effectLst>
              </a:rPr>
              <a:t>M.SUNITHA</a:t>
            </a:r>
            <a:endParaRPr lang="en-US" sz="8800" b="0" dirty="0">
              <a:effectLst>
                <a:outerShdw blurRad="38100" dist="38100" dir="2700000" algn="tl">
                  <a:srgbClr val="000000">
                    <a:alpha val="43137"/>
                  </a:srgbClr>
                </a:outerShdw>
              </a:effectLst>
            </a:endParaRPr>
          </a:p>
          <a:p>
            <a:pPr>
              <a:spcBef>
                <a:spcPts val="300"/>
              </a:spcBef>
            </a:pPr>
            <a:r>
              <a:rPr lang="en-US" sz="5400" b="0" dirty="0"/>
              <a:t>Roll No. </a:t>
            </a:r>
            <a:r>
              <a:rPr lang="en-US" sz="5400" b="0" dirty="0" smtClean="0"/>
              <a:t>224G1A05B0</a:t>
            </a:r>
            <a:endParaRPr lang="en-US" sz="5400" b="0" dirty="0"/>
          </a:p>
        </p:txBody>
      </p:sp>
      <p:sp>
        <p:nvSpPr>
          <p:cNvPr id="2" name="Subtitle 11"/>
          <p:cNvSpPr txBox="1"/>
          <p:nvPr/>
        </p:nvSpPr>
        <p:spPr>
          <a:xfrm>
            <a:off x="3244362" y="2475580"/>
            <a:ext cx="5442438"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a:t>
            </a:r>
            <a:r>
              <a:rPr lang="en-US" sz="1400" b="0" i="1" dirty="0" smtClean="0"/>
              <a:t>of </a:t>
            </a:r>
          </a:p>
          <a:p>
            <a:pPr>
              <a:spcBef>
                <a:spcPts val="300"/>
              </a:spcBef>
            </a:pPr>
            <a:r>
              <a:rPr lang="en-IN" sz="2400" b="0" dirty="0" err="1" smtClean="0">
                <a:effectLst>
                  <a:outerShdw blurRad="38100" dist="38100" dir="2700000" algn="tl">
                    <a:srgbClr val="000000">
                      <a:alpha val="43137"/>
                    </a:srgbClr>
                  </a:outerShdw>
                </a:effectLst>
              </a:rPr>
              <a:t>Mr</a:t>
            </a:r>
            <a:r>
              <a:rPr lang="en-IN" sz="2400" b="0" dirty="0" err="1">
                <a:effectLst>
                  <a:outerShdw blurRad="38100" dist="38100" dir="2700000" algn="tl">
                    <a:srgbClr val="000000">
                      <a:alpha val="43137"/>
                    </a:srgbClr>
                  </a:outerShdw>
                </a:effectLst>
              </a:rPr>
              <a:t>.</a:t>
            </a:r>
            <a:r>
              <a:rPr lang="en-IN" sz="2400" b="0" dirty="0">
                <a:effectLst>
                  <a:outerShdw blurRad="38100" dist="38100" dir="2700000" algn="tl">
                    <a:srgbClr val="000000">
                      <a:alpha val="43137"/>
                    </a:srgbClr>
                  </a:outerShdw>
                </a:effectLst>
              </a:rPr>
              <a:t> C. </a:t>
            </a:r>
            <a:r>
              <a:rPr lang="en-IN" sz="2400" b="0" dirty="0" err="1">
                <a:effectLst>
                  <a:outerShdw blurRad="38100" dist="38100" dir="2700000" algn="tl">
                    <a:srgbClr val="000000">
                      <a:alpha val="43137"/>
                    </a:srgbClr>
                  </a:outerShdw>
                </a:effectLst>
              </a:rPr>
              <a:t>Sudheer</a:t>
            </a:r>
            <a:r>
              <a:rPr lang="en-IN" sz="2400" b="0" dirty="0">
                <a:effectLst>
                  <a:outerShdw blurRad="38100" dist="38100" dir="2700000" algn="tl">
                    <a:srgbClr val="000000">
                      <a:alpha val="43137"/>
                    </a:srgbClr>
                  </a:outerShdw>
                </a:effectLst>
              </a:rPr>
              <a:t> Kumar, </a:t>
            </a:r>
            <a:r>
              <a:rPr lang="en-IN" sz="2400" b="0" dirty="0" err="1">
                <a:effectLst>
                  <a:outerShdw blurRad="38100" dist="38100" dir="2700000" algn="tl">
                    <a:srgbClr val="000000">
                      <a:alpha val="43137"/>
                    </a:srgbClr>
                  </a:outerShdw>
                </a:effectLst>
              </a:rPr>
              <a:t>M.Tech</a:t>
            </a:r>
            <a:r>
              <a:rPr lang="en-IN" sz="2400" b="0" dirty="0">
                <a:effectLst>
                  <a:outerShdw blurRad="38100" dist="38100" dir="2700000" algn="tl">
                    <a:srgbClr val="000000">
                      <a:alpha val="43137"/>
                    </a:srgbClr>
                  </a:outerShdw>
                </a:effectLst>
              </a:rPr>
              <a:t>, (</a:t>
            </a:r>
            <a:r>
              <a:rPr lang="en-IN" sz="2400" b="0" dirty="0" err="1" smtClean="0">
                <a:effectLst>
                  <a:outerShdw blurRad="38100" dist="38100" dir="2700000" algn="tl">
                    <a:srgbClr val="000000">
                      <a:alpha val="43137"/>
                    </a:srgbClr>
                  </a:outerShdw>
                </a:effectLst>
              </a:rPr>
              <a:t>Ph.D</a:t>
            </a:r>
            <a:r>
              <a:rPr lang="en-IN" sz="2400" b="0" dirty="0">
                <a:effectLst>
                  <a:outerShdw blurRad="38100" dist="38100" dir="2700000" algn="tl">
                    <a:srgbClr val="000000">
                      <a:alpha val="43137"/>
                    </a:srgbClr>
                  </a:outerShdw>
                </a:effectLst>
              </a:rPr>
              <a:t>)</a:t>
            </a:r>
            <a:r>
              <a:rPr lang="en-IN" sz="2400" b="0" dirty="0" smtClean="0">
                <a:effectLst>
                  <a:outerShdw blurRad="38100" dist="38100" dir="2700000" algn="tl">
                    <a:srgbClr val="000000">
                      <a:alpha val="43137"/>
                    </a:srgbClr>
                  </a:outerShdw>
                </a:effectLst>
              </a:rPr>
              <a:t> </a:t>
            </a:r>
          </a:p>
          <a:p>
            <a:pPr>
              <a:spcBef>
                <a:spcPts val="200"/>
              </a:spcBef>
            </a:pPr>
            <a:r>
              <a:rPr lang="en-IN" sz="2400" b="0" dirty="0">
                <a:effectLst>
                  <a:outerShdw blurRad="38100" dist="38100" dir="2700000" algn="tl">
                    <a:srgbClr val="000000">
                      <a:alpha val="43137"/>
                    </a:srgbClr>
                  </a:outerShdw>
                </a:effectLst>
              </a:rPr>
              <a:t>Assistant Professor </a:t>
            </a:r>
            <a:endParaRPr lang="en-IN" sz="1400" b="0" dirty="0"/>
          </a:p>
        </p:txBody>
      </p:sp>
      <p:sp>
        <p:nvSpPr>
          <p:cNvPr id="3" name="Subtitle 11"/>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2246745" y="1814492"/>
            <a:ext cx="2382924" cy="584534"/>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4800" b="0" dirty="0" smtClean="0">
                <a:effectLst>
                  <a:outerShdw blurRad="38100" dist="38100" dir="2700000" algn="tl">
                    <a:srgbClr val="000000">
                      <a:alpha val="43137"/>
                    </a:srgbClr>
                  </a:outerShdw>
                </a:effectLst>
              </a:rPr>
              <a:t>R.LIKHITHA</a:t>
            </a:r>
            <a:endParaRPr lang="en-US" sz="4800" b="0" dirty="0">
              <a:effectLst>
                <a:outerShdw blurRad="38100" dist="38100" dir="2700000" algn="tl">
                  <a:srgbClr val="000000">
                    <a:alpha val="43137"/>
                  </a:srgbClr>
                </a:outerShdw>
              </a:effectLst>
            </a:endParaRPr>
          </a:p>
          <a:p>
            <a:pPr>
              <a:spcBef>
                <a:spcPts val="300"/>
              </a:spcBef>
            </a:pPr>
            <a:r>
              <a:rPr lang="en-US" sz="2400" b="0" dirty="0"/>
              <a:t>Roll No. </a:t>
            </a:r>
            <a:r>
              <a:rPr lang="en-US" sz="2400" b="0" dirty="0" smtClean="0"/>
              <a:t>224G1A0541</a:t>
            </a:r>
            <a:endParaRPr lang="en-US" sz="1200" b="0" dirty="0"/>
          </a:p>
        </p:txBody>
      </p:sp>
      <p:sp>
        <p:nvSpPr>
          <p:cNvPr id="9" name="Subtitle 11"/>
          <p:cNvSpPr txBox="1"/>
          <p:nvPr/>
        </p:nvSpPr>
        <p:spPr>
          <a:xfrm>
            <a:off x="8153794" y="1783000"/>
            <a:ext cx="2382924"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9600" b="0" dirty="0" smtClean="0">
                <a:effectLst>
                  <a:outerShdw blurRad="38100" dist="38100" dir="2700000" algn="tl">
                    <a:srgbClr val="000000">
                      <a:alpha val="43137"/>
                    </a:srgbClr>
                  </a:outerShdw>
                </a:effectLst>
              </a:rPr>
              <a:t>P.PRATHIBHA</a:t>
            </a:r>
            <a:endParaRPr lang="en-US" sz="9600" b="0" dirty="0">
              <a:effectLst>
                <a:outerShdw blurRad="38100" dist="38100" dir="2700000" algn="tl">
                  <a:srgbClr val="000000">
                    <a:alpha val="43137"/>
                  </a:srgbClr>
                </a:outerShdw>
              </a:effectLst>
            </a:endParaRPr>
          </a:p>
          <a:p>
            <a:pPr>
              <a:spcBef>
                <a:spcPts val="300"/>
              </a:spcBef>
            </a:pPr>
            <a:r>
              <a:rPr lang="en-US" sz="5400" b="0" dirty="0"/>
              <a:t>Roll No. </a:t>
            </a:r>
            <a:r>
              <a:rPr lang="en-US" sz="5400" b="0" dirty="0" smtClean="0"/>
              <a:t>224G1A0575</a:t>
            </a:r>
            <a:endParaRPr lang="en-US" sz="5400" b="0" dirty="0"/>
          </a:p>
        </p:txBody>
      </p:sp>
      <p:sp>
        <p:nvSpPr>
          <p:cNvPr id="10" name="Subtitle 11"/>
          <p:cNvSpPr txBox="1"/>
          <p:nvPr/>
        </p:nvSpPr>
        <p:spPr>
          <a:xfrm>
            <a:off x="1191460"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1200" b="0" dirty="0"/>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AI-POWERED HANDWRITTEN ANSWER SHEET EVALUATION SYSTEM</a:t>
            </a: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7"/>
          <p:cNvSpPr/>
          <p:nvPr/>
        </p:nvSpPr>
        <p:spPr>
          <a:xfrm>
            <a:off x="2714837" y="1261695"/>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extLst>
      <p:ext uri="{BB962C8B-B14F-4D97-AF65-F5344CB8AC3E}">
        <p14:creationId xmlns:p14="http://schemas.microsoft.com/office/powerpoint/2010/main" val="13402145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1FAA6D-7637-5E88-CF28-4D2EF60270E3}"/>
              </a:ext>
            </a:extLst>
          </p:cNvPr>
          <p:cNvSpPr>
            <a:spLocks noGrp="1"/>
          </p:cNvSpPr>
          <p:nvPr>
            <p:ph type="title"/>
          </p:nvPr>
        </p:nvSpPr>
        <p:spPr/>
        <p:txBody>
          <a:bodyPr/>
          <a:lstStyle/>
          <a:p>
            <a:r>
              <a:rPr lang="en-US" dirty="0"/>
              <a:t>Comments</a:t>
            </a:r>
            <a:endParaRPr lang="en-IN" dirty="0"/>
          </a:p>
        </p:txBody>
      </p:sp>
      <p:sp>
        <p:nvSpPr>
          <p:cNvPr id="3" name="Content Placeholder 2">
            <a:extLst>
              <a:ext uri="{FF2B5EF4-FFF2-40B4-BE49-F238E27FC236}">
                <a16:creationId xmlns="" xmlns:a16="http://schemas.microsoft.com/office/drawing/2014/main" id="{6524DFE5-F7A5-9ADB-AFD3-08EBD7A4FB1F}"/>
              </a:ext>
            </a:extLst>
          </p:cNvPr>
          <p:cNvSpPr>
            <a:spLocks noGrp="1"/>
          </p:cNvSpPr>
          <p:nvPr>
            <p:ph idx="1"/>
          </p:nvPr>
        </p:nvSpPr>
        <p:spPr/>
        <p:txBody>
          <a:bodyPr>
            <a:normAutofit/>
          </a:bodyPr>
          <a:lstStyle/>
          <a:p>
            <a:endParaRPr lang="en-US" dirty="0" smtClean="0"/>
          </a:p>
          <a:p>
            <a:pPr lvl="0"/>
            <a:r>
              <a:rPr lang="en-US" dirty="0"/>
              <a:t>What is the difference between the existing college evaluation system and our project?</a:t>
            </a:r>
          </a:p>
          <a:p>
            <a:pPr lvl="0"/>
            <a:r>
              <a:rPr lang="en-US" dirty="0"/>
              <a:t>Have you referred to any research papers for this project?</a:t>
            </a:r>
          </a:p>
          <a:p>
            <a:pPr marL="0" indent="0">
              <a:buNone/>
            </a:pPr>
            <a:endParaRPr lang="en-US" dirty="0"/>
          </a:p>
        </p:txBody>
      </p:sp>
    </p:spTree>
    <p:extLst>
      <p:ext uri="{BB962C8B-B14F-4D97-AF65-F5344CB8AC3E}">
        <p14:creationId xmlns:p14="http://schemas.microsoft.com/office/powerpoint/2010/main" val="14853564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r:embed="rId2">
                  <a:extLst>
                    <a:ext uri="{96DAC541-7B7A-43D3-8B79-37D633B846F1}">
                      <asvg:svgBlip xmlns="" xmlns:asvg="http://schemas.microsoft.com/office/drawing/2016/SVG/main" r:embed="rId3"/>
                    </a:ext>
                  </a:extLst>
                </a:blip>
              </a:buBlip>
            </a:pPr>
            <a:r>
              <a:rPr lang="en-US" dirty="0"/>
              <a:t>Abstract</a:t>
            </a:r>
          </a:p>
          <a:p>
            <a:pPr marL="462280" indent="-462280">
              <a:buBlip>
                <a:blip r:embed="rId2">
                  <a:extLst>
                    <a:ext uri="{96DAC541-7B7A-43D3-8B79-37D633B846F1}">
                      <asvg:svgBlip xmlns="" xmlns:asvg="http://schemas.microsoft.com/office/drawing/2016/SVG/main" r:embed="rId3"/>
                    </a:ext>
                  </a:extLst>
                </a:blip>
              </a:buBlip>
            </a:pPr>
            <a:r>
              <a:rPr lang="en-US" dirty="0"/>
              <a:t>Introduction</a:t>
            </a:r>
          </a:p>
          <a:p>
            <a:pPr marL="462280" indent="-462280">
              <a:buBlip>
                <a:blip r:embed="rId2">
                  <a:extLst>
                    <a:ext uri="{96DAC541-7B7A-43D3-8B79-37D633B846F1}">
                      <asvg:svgBlip xmlns=""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 xmlns:asvg="http://schemas.microsoft.com/office/drawing/2016/SVG/main" r:embed="rId3"/>
                    </a:ext>
                  </a:extLst>
                </a:blip>
              </a:buBlip>
            </a:pPr>
            <a:r>
              <a:rPr lang="en-US" dirty="0"/>
              <a:t>Existing System</a:t>
            </a:r>
          </a:p>
          <a:p>
            <a:pPr marL="462280" indent="-462280">
              <a:buBlip>
                <a:blip r:embed="rId2">
                  <a:extLst>
                    <a:ext uri="{96DAC541-7B7A-43D3-8B79-37D633B846F1}">
                      <asvg:svgBlip xmlns="" xmlns:asvg="http://schemas.microsoft.com/office/drawing/2016/SVG/main" r:embed="rId3"/>
                    </a:ext>
                  </a:extLst>
                </a:blip>
              </a:buBlip>
            </a:pPr>
            <a:r>
              <a:rPr lang="en-US" dirty="0"/>
              <a:t>Proposed System</a:t>
            </a:r>
          </a:p>
          <a:p>
            <a:pPr marL="462280" indent="-462280">
              <a:buBlip>
                <a:blip r:embed="rId2">
                  <a:extLst>
                    <a:ext uri="{96DAC541-7B7A-43D3-8B79-37D633B846F1}">
                      <asvg:svgBlip xmlns="" xmlns:asvg="http://schemas.microsoft.com/office/drawing/2016/SVG/main" r:embed="rId3"/>
                    </a:ext>
                  </a:extLst>
                </a:blip>
              </a:buBlip>
            </a:pPr>
            <a:r>
              <a:rPr lang="en-US" dirty="0"/>
              <a:t>Planning</a:t>
            </a:r>
          </a:p>
          <a:p>
            <a:pPr marL="462280" indent="-462280">
              <a:buBlip>
                <a:blip r:embed="rId2">
                  <a:extLst>
                    <a:ext uri="{96DAC541-7B7A-43D3-8B79-37D633B846F1}">
                      <asvg:svgBlip xmlns="" xmlns:asvg="http://schemas.microsoft.com/office/drawing/2016/SVG/main" r:embed="rId3"/>
                    </a:ext>
                  </a:extLst>
                </a:blip>
              </a:buBlip>
            </a:pPr>
            <a:r>
              <a:rPr lang="en-US" dirty="0"/>
              <a:t>Design</a:t>
            </a:r>
          </a:p>
          <a:p>
            <a:pPr marL="462280" indent="-462280">
              <a:buBlip>
                <a:blip r:embed="rId2">
                  <a:extLst>
                    <a:ext uri="{96DAC541-7B7A-43D3-8B79-37D633B846F1}">
                      <asvg:svgBlip xmlns="" xmlns:asvg="http://schemas.microsoft.com/office/drawing/2016/SVG/main" r:embed="rId3"/>
                    </a:ext>
                  </a:extLst>
                </a:blip>
              </a:buBlip>
            </a:pPr>
            <a:r>
              <a:rPr lang="en-US" dirty="0"/>
              <a:t>Implementation</a:t>
            </a:r>
          </a:p>
          <a:p>
            <a:pPr marL="462280" indent="-462280">
              <a:buBlip>
                <a:blip r:embed="rId2">
                  <a:extLst>
                    <a:ext uri="{96DAC541-7B7A-43D3-8B79-37D633B846F1}">
                      <asvg:svgBlip xmlns="" xmlns:asvg="http://schemas.microsoft.com/office/drawing/2016/SVG/main" r:embed="rId3"/>
                    </a:ext>
                  </a:extLst>
                </a:blip>
              </a:buBlip>
            </a:pPr>
            <a:r>
              <a:rPr lang="en-US" dirty="0"/>
              <a:t>Research Paper</a:t>
            </a:r>
            <a:endParaRPr lang="en-IN" dirty="0"/>
          </a:p>
          <a:p>
            <a:pPr marL="462280" indent="-462280">
              <a:buBlip>
                <a:blip r:embed="rId2">
                  <a:extLst>
                    <a:ext uri="{96DAC541-7B7A-43D3-8B79-37D633B846F1}">
                      <asvg:svgBlip xmlns="" xmlns:asvg="http://schemas.microsoft.com/office/drawing/2016/SVG/main" r:embed="rId3"/>
                    </a:ext>
                  </a:extLst>
                </a:blip>
              </a:buBlip>
            </a:pPr>
            <a:r>
              <a:rPr lang="en-IN" dirty="0"/>
              <a:t>References</a:t>
            </a:r>
          </a:p>
          <a:p>
            <a:pPr marL="462280" indent="-462280">
              <a:buBlip>
                <a:blip r:embed="rId2">
                  <a:extLst>
                    <a:ext uri="{96DAC541-7B7A-43D3-8B79-37D633B846F1}">
                      <asvg:svgBlip xmlns="" xmlns:asvg="http://schemas.microsoft.com/office/drawing/2016/SVG/main" r:embed="rId3"/>
                    </a:ext>
                  </a:extLst>
                </a:blip>
              </a:buBlip>
            </a:pPr>
            <a:r>
              <a:rPr lang="en-IN" dirty="0"/>
              <a:t>GitHub Link</a:t>
            </a:r>
            <a:endParaRPr lang="en-US" dirty="0"/>
          </a:p>
          <a:p>
            <a:pPr marL="0" indent="0">
              <a:buNone/>
            </a:pPr>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dirty="0">
                <a:sym typeface="+mn-ea"/>
              </a:rPr>
              <a:t>Abstract</a:t>
            </a:r>
            <a:endParaRPr lang="en-US" dirty="0"/>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Autofit/>
          </a:bodyPr>
          <a:lstStyle/>
          <a:p>
            <a:pPr>
              <a:buFont typeface="Wingdings" pitchFamily="2" charset="2"/>
              <a:buChar char="Ø"/>
            </a:pPr>
            <a:r>
              <a:rPr lang="en-US" b="1" dirty="0"/>
              <a:t>Introduction:</a:t>
            </a:r>
            <a:r>
              <a:rPr lang="en-US" dirty="0"/>
              <a:t> Manual evaluation of handwritten answer sheets is time-consuming and may lead to inconsistency and human error.</a:t>
            </a:r>
          </a:p>
          <a:p>
            <a:pPr>
              <a:buFont typeface="Wingdings" pitchFamily="2" charset="2"/>
              <a:buChar char="Ø"/>
            </a:pPr>
            <a:r>
              <a:rPr lang="en-US" b="1" dirty="0"/>
              <a:t>Research Gap:</a:t>
            </a:r>
            <a:r>
              <a:rPr lang="en-US" dirty="0"/>
              <a:t> Existing systems focus on digital or keyword-based evaluation and lack accurate assessment of handwritten descriptive answers.</a:t>
            </a:r>
          </a:p>
          <a:p>
            <a:pPr>
              <a:buFont typeface="Wingdings" pitchFamily="2" charset="2"/>
              <a:buChar char="Ø"/>
            </a:pPr>
            <a:r>
              <a:rPr lang="en-US" b="1" dirty="0"/>
              <a:t>Methodology Used:</a:t>
            </a:r>
            <a:r>
              <a:rPr lang="en-US" dirty="0"/>
              <a:t> Handwritten answers are scanned, converted to text using </a:t>
            </a:r>
            <a:r>
              <a:rPr lang="en-US" b="1" dirty="0"/>
              <a:t>OCR</a:t>
            </a:r>
            <a:r>
              <a:rPr lang="en-US" dirty="0"/>
              <a:t>, and evaluated using </a:t>
            </a:r>
            <a:r>
              <a:rPr lang="en-US" b="1" dirty="0"/>
              <a:t>AI techniques</a:t>
            </a:r>
            <a:r>
              <a:rPr lang="en-US" dirty="0"/>
              <a:t> by comparing them with model answers.</a:t>
            </a:r>
          </a:p>
          <a:p>
            <a:pPr>
              <a:buFont typeface="Wingdings" pitchFamily="2" charset="2"/>
              <a:buChar char="Ø"/>
            </a:pPr>
            <a:r>
              <a:rPr lang="en-US" b="1" dirty="0"/>
              <a:t>Result:</a:t>
            </a:r>
            <a:r>
              <a:rPr lang="en-US" dirty="0"/>
              <a:t> The system provides faster evaluation with improved accuracy and consistent marking compared to manual correction.</a:t>
            </a:r>
          </a:p>
          <a:p>
            <a:pPr>
              <a:buFont typeface="Wingdings" pitchFamily="2" charset="2"/>
              <a:buChar char="Ø"/>
            </a:pPr>
            <a:r>
              <a:rPr lang="en-US" b="1" dirty="0"/>
              <a:t>Conclusion:</a:t>
            </a:r>
            <a:r>
              <a:rPr lang="en-US" dirty="0"/>
              <a:t> The proposed system reduces teacher workload and enables fair, automated answer sheet evaluation for educational institutions.</a:t>
            </a:r>
          </a:p>
          <a:p>
            <a:pPr lvl="0" indent="-457200">
              <a:lnSpc>
                <a:spcPct val="10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161174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Introduction</a:t>
            </a:r>
            <a:endParaRPr lang="en-US"/>
          </a:p>
        </p:txBody>
      </p:sp>
      <p:sp>
        <p:nvSpPr>
          <p:cNvPr id="3" name="Text Placeholder 2"/>
          <p:cNvSpPr>
            <a:spLocks noGrp="1"/>
          </p:cNvSpPr>
          <p:nvPr>
            <p:ph type="body" idx="1"/>
          </p:nvPr>
        </p:nvSpPr>
        <p:spPr/>
        <p:txBody>
          <a:bodyPr>
            <a:normAutofit/>
          </a:bodyPr>
          <a:lstStyle/>
          <a:p>
            <a:pPr>
              <a:buFont typeface="Wingdings" pitchFamily="2" charset="2"/>
              <a:buChar char="Ø"/>
            </a:pPr>
            <a:r>
              <a:rPr lang="en-US" dirty="0"/>
              <a:t>The AI-Powered Handwritten Answer Sheet Evaluation System is designed to automatically evaluate handwritten student answers using Artificial Intelligence, reducing the need for manual correction.</a:t>
            </a:r>
          </a:p>
          <a:p>
            <a:pPr>
              <a:buFont typeface="Wingdings" pitchFamily="2" charset="2"/>
              <a:buChar char="Ø"/>
            </a:pPr>
            <a:r>
              <a:rPr lang="en-US" dirty="0"/>
              <a:t>Manual evaluation of answer sheets is time-consuming, requires a lot of effort from teachers, and may result in inconsistent or biased marking.</a:t>
            </a:r>
          </a:p>
          <a:p>
            <a:pPr>
              <a:buFont typeface="Wingdings" pitchFamily="2" charset="2"/>
              <a:buChar char="Ø"/>
            </a:pPr>
            <a:r>
              <a:rPr lang="en-US" dirty="0"/>
              <a:t>With the increasing number of students and exams, there is a strong need for an automated, accurate, and fair evaluation system that can handle handwritten answers efficiently.</a:t>
            </a:r>
          </a:p>
          <a:p>
            <a:pPr>
              <a:buFont typeface="Wingdings" pitchFamily="2" charset="2"/>
              <a:buChar char="Ø"/>
            </a:pPr>
            <a:r>
              <a:rPr lang="en-US" dirty="0"/>
              <a:t>The project aims to improve evaluation speed, accuracy, and consistency while reducing the workload on educators.</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56068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mn-ea"/>
              </a:rPr>
              <a:t>Literature Survey</a:t>
            </a:r>
            <a:endParaRPr lang="en-US" dirty="0"/>
          </a:p>
        </p:txBody>
      </p:sp>
      <p:graphicFrame>
        <p:nvGraphicFramePr>
          <p:cNvPr id="4" name="Table 3">
            <a:extLst>
              <a:ext uri="{FF2B5EF4-FFF2-40B4-BE49-F238E27FC236}">
                <a16:creationId xmlns:a16="http://schemas.microsoft.com/office/drawing/2014/main" xmlns="" id="{5CE26F1C-2D1C-BEC3-539F-AD3A13E7F071}"/>
              </a:ext>
            </a:extLst>
          </p:cNvPr>
          <p:cNvGraphicFramePr>
            <a:graphicFrameLocks noGrp="1"/>
          </p:cNvGraphicFramePr>
          <p:nvPr>
            <p:extLst>
              <p:ext uri="{D42A27DB-BD31-4B8C-83A1-F6EECF244321}">
                <p14:modId xmlns:p14="http://schemas.microsoft.com/office/powerpoint/2010/main" val="877856343"/>
              </p:ext>
            </p:extLst>
          </p:nvPr>
        </p:nvGraphicFramePr>
        <p:xfrm>
          <a:off x="646985" y="1236600"/>
          <a:ext cx="10783016" cy="5125371"/>
        </p:xfrm>
        <a:graphic>
          <a:graphicData uri="http://schemas.openxmlformats.org/drawingml/2006/table">
            <a:tbl>
              <a:tblPr>
                <a:tableStyleId>{BC89EF96-8CEA-46FF-86C4-4CE0E7609802}</a:tableStyleId>
              </a:tblPr>
              <a:tblGrid>
                <a:gridCol w="1578630">
                  <a:extLst>
                    <a:ext uri="{9D8B030D-6E8A-4147-A177-3AD203B41FA5}">
                      <a16:colId xmlns:a16="http://schemas.microsoft.com/office/drawing/2014/main" xmlns="" val="2888888286"/>
                    </a:ext>
                  </a:extLst>
                </a:gridCol>
                <a:gridCol w="698740">
                  <a:extLst>
                    <a:ext uri="{9D8B030D-6E8A-4147-A177-3AD203B41FA5}">
                      <a16:colId xmlns:a16="http://schemas.microsoft.com/office/drawing/2014/main" xmlns="" val="4292137926"/>
                    </a:ext>
                  </a:extLst>
                </a:gridCol>
                <a:gridCol w="2363637">
                  <a:extLst>
                    <a:ext uri="{9D8B030D-6E8A-4147-A177-3AD203B41FA5}">
                      <a16:colId xmlns:a16="http://schemas.microsoft.com/office/drawing/2014/main" xmlns="" val="2523506046"/>
                    </a:ext>
                  </a:extLst>
                </a:gridCol>
                <a:gridCol w="3278038">
                  <a:extLst>
                    <a:ext uri="{9D8B030D-6E8A-4147-A177-3AD203B41FA5}">
                      <a16:colId xmlns:a16="http://schemas.microsoft.com/office/drawing/2014/main" xmlns="" val="1590046024"/>
                    </a:ext>
                  </a:extLst>
                </a:gridCol>
                <a:gridCol w="2863971">
                  <a:extLst>
                    <a:ext uri="{9D8B030D-6E8A-4147-A177-3AD203B41FA5}">
                      <a16:colId xmlns:a16="http://schemas.microsoft.com/office/drawing/2014/main" xmlns="" val="2304382287"/>
                    </a:ext>
                  </a:extLst>
                </a:gridCol>
              </a:tblGrid>
              <a:tr h="110474">
                <a:tc>
                  <a:txBody>
                    <a:bodyPr/>
                    <a:lstStyle/>
                    <a:p>
                      <a:pPr>
                        <a:buNone/>
                      </a:pPr>
                      <a:r>
                        <a:rPr lang="en-US" sz="1300" b="1" dirty="0"/>
                        <a:t>Author(s)</a:t>
                      </a:r>
                      <a:endParaRPr lang="en-US" sz="1300" dirty="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b="1"/>
                        <a:t>Year</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b="1"/>
                        <a:t>Methodology Used</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b="1"/>
                        <a:t>Implementation</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b="1"/>
                        <a:t>Limitations</a:t>
                      </a:r>
                      <a:endParaRPr lang="en-US" sz="1300">
                        <a:latin typeface="Times New Roman" panose="02020603050405020304" pitchFamily="18" charset="0"/>
                        <a:cs typeface="Times New Roman" panose="02020603050405020304" pitchFamily="18" charset="0"/>
                      </a:endParaRPr>
                    </a:p>
                  </a:txBody>
                  <a:tcPr marL="24174" marR="24174" marT="12087" marB="12087" anchor="ctr"/>
                </a:tc>
                <a:extLst>
                  <a:ext uri="{0D108BD9-81ED-4DB2-BD59-A6C34878D82A}">
                    <a16:rowId xmlns:a16="http://schemas.microsoft.com/office/drawing/2014/main" xmlns="" val="1981107163"/>
                  </a:ext>
                </a:extLst>
              </a:tr>
              <a:tr h="1144090">
                <a:tc>
                  <a:txBody>
                    <a:bodyPr/>
                    <a:lstStyle/>
                    <a:p>
                      <a:pPr>
                        <a:buNone/>
                      </a:pPr>
                      <a:r>
                        <a:rPr lang="en-US" sz="1300" b="1" dirty="0" err="1"/>
                        <a:t>Bansal</a:t>
                      </a:r>
                      <a:r>
                        <a:rPr lang="en-US" sz="1300" b="1" dirty="0"/>
                        <a:t>, S., Gupta, V., Gupta, E., &amp; </a:t>
                      </a:r>
                      <a:r>
                        <a:rPr lang="en-US" sz="1300" b="1" dirty="0" err="1"/>
                        <a:t>Garg</a:t>
                      </a:r>
                      <a:r>
                        <a:rPr lang="en-US" sz="1300" b="1" dirty="0"/>
                        <a:t>, P.</a:t>
                      </a:r>
                      <a:endParaRPr lang="en-US" sz="1300" dirty="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2025</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dirty="0"/>
                        <a:t>Deep learning–based handwritten answer evaluation using transformer-based language models and semantic similarity techniques.</a:t>
                      </a:r>
                      <a:endParaRPr lang="en-US" sz="1300" dirty="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study implemented a DeepSeek-based framework to evaluate handwritten answers by converting them into digital text and comparing them with reference answers using deep neural language representations.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system depends heavily on accurate handwriting recognition; errors in text extraction may affect grading accuracy and scalability in large datasets.</a:t>
                      </a:r>
                      <a:endParaRPr lang="en-US" sz="1300">
                        <a:latin typeface="Times New Roman" panose="02020603050405020304" pitchFamily="18" charset="0"/>
                        <a:cs typeface="Times New Roman" panose="02020603050405020304" pitchFamily="18" charset="0"/>
                      </a:endParaRPr>
                    </a:p>
                  </a:txBody>
                  <a:tcPr marL="24174" marR="24174" marT="12087" marB="12087" anchor="ctr"/>
                </a:tc>
                <a:extLst>
                  <a:ext uri="{0D108BD9-81ED-4DB2-BD59-A6C34878D82A}">
                    <a16:rowId xmlns:a16="http://schemas.microsoft.com/office/drawing/2014/main" xmlns="" val="44242201"/>
                  </a:ext>
                </a:extLst>
              </a:tr>
              <a:tr h="984450">
                <a:tc>
                  <a:txBody>
                    <a:bodyPr/>
                    <a:lstStyle/>
                    <a:p>
                      <a:pPr>
                        <a:buNone/>
                      </a:pPr>
                      <a:r>
                        <a:rPr lang="en-US" sz="1300" b="1"/>
                        <a:t>Kortemeyer, G., Caspar, A., &amp; Horica, D.</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2025</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Artificial intelligence–assisted grading using natural language understanding and automated scoring models.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system integrates AI-based grading assistance for handwritten calculus exam components by converting responses into digital format and analyzing mathematical reasoning patterns.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approach is limited in handling complex mathematical expressions and diagrams, and still requires human oversight for final grading verification.</a:t>
                      </a:r>
                      <a:endParaRPr lang="en-US" sz="1300">
                        <a:latin typeface="Times New Roman" panose="02020603050405020304" pitchFamily="18" charset="0"/>
                        <a:cs typeface="Times New Roman" panose="02020603050405020304" pitchFamily="18" charset="0"/>
                      </a:endParaRPr>
                    </a:p>
                  </a:txBody>
                  <a:tcPr marL="24174" marR="24174" marT="12087" marB="12087" anchor="ctr"/>
                </a:tc>
                <a:extLst>
                  <a:ext uri="{0D108BD9-81ED-4DB2-BD59-A6C34878D82A}">
                    <a16:rowId xmlns:a16="http://schemas.microsoft.com/office/drawing/2014/main" xmlns="" val="1526303575"/>
                  </a:ext>
                </a:extLst>
              </a:tr>
              <a:tr h="904629">
                <a:tc>
                  <a:txBody>
                    <a:bodyPr/>
                    <a:lstStyle/>
                    <a:p>
                      <a:pPr>
                        <a:buNone/>
                      </a:pPr>
                      <a:r>
                        <a:rPr lang="en-US" sz="1300" b="1"/>
                        <a:t>Cvengros, J., &amp; Kortemeyer, G.</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2025</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AI-assisted evaluation using machine learning models and semantic analysis for handwritten chemistry responses.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framework processes handwritten exam responses through OCR and applies machine learning models to assess conceptual correctness in general chemistry answers.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Recognition accuracy decreases when handwriting quality is poor, and the model struggles with symbolic chemical equations and structural diagrams.</a:t>
                      </a:r>
                      <a:endParaRPr lang="en-US" sz="1300">
                        <a:latin typeface="Times New Roman" panose="02020603050405020304" pitchFamily="18" charset="0"/>
                        <a:cs typeface="Times New Roman" panose="02020603050405020304" pitchFamily="18" charset="0"/>
                      </a:endParaRPr>
                    </a:p>
                  </a:txBody>
                  <a:tcPr marL="24174" marR="24174" marT="12087" marB="12087" anchor="ctr"/>
                </a:tc>
                <a:extLst>
                  <a:ext uri="{0D108BD9-81ED-4DB2-BD59-A6C34878D82A}">
                    <a16:rowId xmlns:a16="http://schemas.microsoft.com/office/drawing/2014/main" xmlns="" val="986727723"/>
                  </a:ext>
                </a:extLst>
              </a:tr>
              <a:tr h="824810">
                <a:tc>
                  <a:txBody>
                    <a:bodyPr/>
                    <a:lstStyle/>
                    <a:p>
                      <a:pPr>
                        <a:buNone/>
                      </a:pPr>
                      <a:r>
                        <a:rPr lang="en-US" sz="1300" b="1"/>
                        <a:t>Ghadekar, P., Khanvilkar, O., Kharat, J., Joshi, K., Kulkarni, T., &amp; Kulkarni, Y.</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2025</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Integration of Optical Character Recognition and machine learning algorithms for automated grading.</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system converts handwritten examination sheets into text using OCR and evaluates responses using machine learning classification and similarity-based scoring methods.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Keyword-based evaluation techniques may fail to capture deeper semantic meaning, resulting in reduced accuracy for descriptive answers.</a:t>
                      </a:r>
                      <a:endParaRPr lang="en-US" sz="1300">
                        <a:latin typeface="Times New Roman" panose="02020603050405020304" pitchFamily="18" charset="0"/>
                        <a:cs typeface="Times New Roman" panose="02020603050405020304" pitchFamily="18" charset="0"/>
                      </a:endParaRPr>
                    </a:p>
                  </a:txBody>
                  <a:tcPr marL="24174" marR="24174" marT="12087" marB="12087" anchor="ctr"/>
                </a:tc>
                <a:extLst>
                  <a:ext uri="{0D108BD9-81ED-4DB2-BD59-A6C34878D82A}">
                    <a16:rowId xmlns:a16="http://schemas.microsoft.com/office/drawing/2014/main" xmlns="" val="4144856083"/>
                  </a:ext>
                </a:extLst>
              </a:tr>
              <a:tr h="824810">
                <a:tc>
                  <a:txBody>
                    <a:bodyPr/>
                    <a:lstStyle/>
                    <a:p>
                      <a:pPr>
                        <a:buNone/>
                      </a:pPr>
                      <a:r>
                        <a:rPr lang="en-US" sz="1300" b="1"/>
                        <a:t>Yiğiter, M., &amp; Boduroğlu, E.</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2025</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Artificial intelligence scoring models for open-ended handwritten responses using natural language processing techniques.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a:t>The study analyzed the effectiveness of AI-based scoring systems by comparing automated evaluation results with human graders across open-ended questions.</a:t>
                      </a:r>
                      <a:endParaRPr lang="en-US" sz="1300">
                        <a:latin typeface="Times New Roman" panose="02020603050405020304" pitchFamily="18" charset="0"/>
                        <a:cs typeface="Times New Roman" panose="02020603050405020304" pitchFamily="18" charset="0"/>
                      </a:endParaRPr>
                    </a:p>
                  </a:txBody>
                  <a:tcPr marL="24174" marR="24174" marT="12087" marB="12087" anchor="ctr"/>
                </a:tc>
                <a:tc>
                  <a:txBody>
                    <a:bodyPr/>
                    <a:lstStyle/>
                    <a:p>
                      <a:pPr>
                        <a:buNone/>
                      </a:pPr>
                      <a:r>
                        <a:rPr lang="en-US" sz="1300" dirty="0"/>
                        <a:t>The evaluation accuracy varies depending on answer length and writing style, and the model shows limitations in interpreting highly diverse answer expressions.</a:t>
                      </a:r>
                      <a:endParaRPr lang="en-US" sz="1300" dirty="0">
                        <a:latin typeface="Times New Roman" panose="02020603050405020304" pitchFamily="18" charset="0"/>
                        <a:cs typeface="Times New Roman" panose="02020603050405020304" pitchFamily="18" charset="0"/>
                      </a:endParaRPr>
                    </a:p>
                  </a:txBody>
                  <a:tcPr marL="24174" marR="24174" marT="12087" marB="12087" anchor="ctr"/>
                </a:tc>
                <a:extLst>
                  <a:ext uri="{0D108BD9-81ED-4DB2-BD59-A6C34878D82A}">
                    <a16:rowId xmlns:a16="http://schemas.microsoft.com/office/drawing/2014/main" xmlns="" val="3822492519"/>
                  </a:ext>
                </a:extLst>
              </a:tr>
            </a:tbl>
          </a:graphicData>
        </a:graphic>
      </p:graphicFrame>
    </p:spTree>
    <p:extLst>
      <p:ext uri="{BB962C8B-B14F-4D97-AF65-F5344CB8AC3E}">
        <p14:creationId xmlns:p14="http://schemas.microsoft.com/office/powerpoint/2010/main" val="5470905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mn-ea"/>
              </a:rPr>
              <a:t>Existing System</a:t>
            </a:r>
            <a:endParaRPr lang="en-US" dirty="0"/>
          </a:p>
        </p:txBody>
      </p:sp>
      <p:sp>
        <p:nvSpPr>
          <p:cNvPr id="3" name="Text Placeholder 2"/>
          <p:cNvSpPr>
            <a:spLocks noGrp="1"/>
          </p:cNvSpPr>
          <p:nvPr>
            <p:ph type="body" idx="1"/>
          </p:nvPr>
        </p:nvSpPr>
        <p:spPr/>
        <p:txBody>
          <a:bodyPr>
            <a:noAutofit/>
          </a:bodyPr>
          <a:lstStyle/>
          <a:p>
            <a:r>
              <a:rPr lang="en-US" sz="2400" dirty="0"/>
              <a:t>Existing handwritten answer evaluation systems mainly rely on Optical Character Recognition and basic text matching techniques to convert handwritten responses into digital text and compare them with predefined answers. </a:t>
            </a:r>
          </a:p>
          <a:p>
            <a:r>
              <a:rPr lang="en-US" sz="2400" dirty="0"/>
              <a:t>Many traditional automated grading methods use keyword-based or term frequency–based similarity approaches, which focus on matching specific words rather than understanding the semantic meaning of the student’s response. </a:t>
            </a:r>
          </a:p>
          <a:p>
            <a:r>
              <a:rPr lang="en-US" sz="2400" dirty="0"/>
              <a:t>Some recent systems incorporate machine learning and natural language processing techniques to improve evaluation accuracy, but they often depend heavily on the quality of handwriting recognition and may struggle with diverse handwriting styles. </a:t>
            </a:r>
          </a:p>
          <a:p>
            <a:r>
              <a:rPr lang="en-US" sz="2400" dirty="0"/>
              <a:t>Despite these advancements, existing approaches still face challenges such as limited semantic understanding, difficulty handling paraphrased answers, lack of effective partial evaluation mechanisms, and reduced performance when handwriting quality is poor.</a:t>
            </a:r>
          </a:p>
          <a:p>
            <a:endParaRPr lang="en-US" sz="2400" dirty="0"/>
          </a:p>
        </p:txBody>
      </p:sp>
    </p:spTree>
    <p:extLst>
      <p:ext uri="{BB962C8B-B14F-4D97-AF65-F5344CB8AC3E}">
        <p14:creationId xmlns:p14="http://schemas.microsoft.com/office/powerpoint/2010/main" val="14640535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mn-ea"/>
              </a:rPr>
              <a:t>Proposed System</a:t>
            </a:r>
            <a:endParaRPr lang="en-US" dirty="0"/>
          </a:p>
        </p:txBody>
      </p:sp>
      <p:sp>
        <p:nvSpPr>
          <p:cNvPr id="3" name="Text Placeholder 2"/>
          <p:cNvSpPr>
            <a:spLocks noGrp="1"/>
          </p:cNvSpPr>
          <p:nvPr>
            <p:ph type="body" idx="1"/>
          </p:nvPr>
        </p:nvSpPr>
        <p:spPr/>
        <p:txBody>
          <a:bodyPr>
            <a:normAutofit fontScale="70000" lnSpcReduction="20000"/>
          </a:bodyPr>
          <a:lstStyle/>
          <a:p>
            <a:pPr marL="285750" indent="-285750">
              <a:lnSpc>
                <a:spcPct val="150000"/>
              </a:lnSpc>
            </a:pPr>
            <a:r>
              <a:rPr lang="en-US" dirty="0"/>
              <a:t>The proposed system introduces an AI-powered automated evaluation framework that processes handwritten answer sheets using advanced image preprocessing, handwriting recognition, and semantic text analysis techniques. </a:t>
            </a:r>
          </a:p>
          <a:p>
            <a:pPr marL="285750" indent="-285750">
              <a:lnSpc>
                <a:spcPct val="150000"/>
              </a:lnSpc>
            </a:pPr>
            <a:r>
              <a:rPr lang="en-US" dirty="0"/>
              <a:t>The system converts scanned handwritten answers into machine-readable text through Optical Character Recognition combined with preprocessing methods such as noise removal, </a:t>
            </a:r>
            <a:r>
              <a:rPr lang="en-US" dirty="0" err="1"/>
              <a:t>binarization</a:t>
            </a:r>
            <a:r>
              <a:rPr lang="en-US" dirty="0"/>
              <a:t>, and skew correction to improve recognition accuracy. </a:t>
            </a:r>
          </a:p>
          <a:p>
            <a:pPr marL="285750" indent="-285750">
              <a:lnSpc>
                <a:spcPct val="150000"/>
              </a:lnSpc>
            </a:pPr>
            <a:r>
              <a:rPr lang="en-US" dirty="0"/>
              <a:t>To evaluate student responses, the system applies Natural Language Processing–based semantic similarity analysis, allowing it to understand contextual meaning and compare student answers with expert-prepared model answers rather than relying on simple keyword matching. </a:t>
            </a:r>
          </a:p>
          <a:p>
            <a:pPr marL="285750" indent="-285750">
              <a:lnSpc>
                <a:spcPct val="150000"/>
              </a:lnSpc>
            </a:pPr>
            <a:r>
              <a:rPr lang="en-US" dirty="0"/>
              <a:t>Based on the computed similarity score, the system performs automated scoring with support for partial marking, achieving high evaluation accuracy of 98%, reducing manual grading effort, and ensuring consistent and unbiased assessment.</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053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ym typeface="+mn-ea"/>
              </a:rPr>
              <a:t>Planning</a:t>
            </a:r>
            <a:endParaRPr lang="en-US" dirty="0"/>
          </a:p>
        </p:txBody>
      </p:sp>
      <p:sp>
        <p:nvSpPr>
          <p:cNvPr id="3" name="Text Placeholder 2"/>
          <p:cNvSpPr>
            <a:spLocks noGrp="1"/>
          </p:cNvSpPr>
          <p:nvPr>
            <p:ph type="body" idx="1"/>
          </p:nvPr>
        </p:nvSpPr>
        <p:spPr/>
        <p:txBody>
          <a:bodyPr>
            <a:normAutofit/>
          </a:bodyPr>
          <a:lstStyle/>
          <a:p>
            <a:pPr>
              <a:lnSpc>
                <a:spcPct val="100000"/>
              </a:lnSpc>
            </a:pPr>
            <a:r>
              <a:rPr lang="en-US" sz="2400" b="1" dirty="0"/>
              <a:t>Dataset Collection </a:t>
            </a:r>
            <a:r>
              <a:rPr lang="en-US" sz="2400" dirty="0"/>
              <a:t>Handwritten answer sheets are collected in scanned image format along with corresponding model answers prepared by subject experts. These datasets are used for training and evaluating the system. </a:t>
            </a:r>
          </a:p>
          <a:p>
            <a:pPr>
              <a:lnSpc>
                <a:spcPct val="100000"/>
              </a:lnSpc>
            </a:pPr>
            <a:r>
              <a:rPr lang="en-US" sz="2400" b="1" dirty="0"/>
              <a:t>Image Preprocessing &amp; OCR Module </a:t>
            </a:r>
            <a:r>
              <a:rPr lang="en-US" sz="2400" dirty="0"/>
              <a:t>The scanned answer sheets are preprocessed using image processing techniques such as noise removal, resizing, and </a:t>
            </a:r>
            <a:r>
              <a:rPr lang="en-US" sz="2400" dirty="0" err="1"/>
              <a:t>binarization</a:t>
            </a:r>
            <a:r>
              <a:rPr lang="en-US" sz="2400" dirty="0"/>
              <a:t>. OCR is then applied to convert handwritten text into machine-readable digital text. </a:t>
            </a:r>
          </a:p>
          <a:p>
            <a:pPr>
              <a:lnSpc>
                <a:spcPct val="100000"/>
              </a:lnSpc>
            </a:pPr>
            <a:r>
              <a:rPr lang="en-US" sz="2400" b="1" dirty="0"/>
              <a:t>NLP-Based Answer Evaluation Module </a:t>
            </a:r>
            <a:r>
              <a:rPr lang="en-US" sz="2400" dirty="0"/>
              <a:t>The extracted text is analyzed using Natural Language Processing techniques to compare student answers with model answers. Semantic similarity scores are computed to evaluate correctness and relevance. </a:t>
            </a:r>
          </a:p>
          <a:p>
            <a:pPr>
              <a:lnSpc>
                <a:spcPct val="100000"/>
              </a:lnSpc>
            </a:pPr>
            <a:r>
              <a:rPr lang="en-US" sz="2400" b="1" dirty="0"/>
              <a:t>Scoring &amp; Result Generation Module </a:t>
            </a:r>
            <a:r>
              <a:rPr lang="en-US" sz="2400" dirty="0"/>
              <a:t>Based on similarity scores, the system assigns marks, including partial evaluation. The final results are generated and stored for further analysis and reporting.</a:t>
            </a:r>
          </a:p>
          <a:p>
            <a:pPr marL="0" indent="0">
              <a:lnSpc>
                <a:spcPct val="160000"/>
              </a:lnSpc>
              <a:buNone/>
            </a:pPr>
            <a:endParaRPr lang="en-US" sz="2400" dirty="0"/>
          </a:p>
          <a:p>
            <a:pPr marL="0" indent="0">
              <a:lnSpc>
                <a:spcPct val="150000"/>
              </a:lnSpc>
              <a:buNone/>
            </a:pPr>
            <a:endParaRPr lang="en-US" sz="2400" dirty="0"/>
          </a:p>
        </p:txBody>
      </p:sp>
    </p:spTree>
    <p:extLst>
      <p:ext uri="{BB962C8B-B14F-4D97-AF65-F5344CB8AC3E}">
        <p14:creationId xmlns:p14="http://schemas.microsoft.com/office/powerpoint/2010/main" val="14640535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a:t>
            </a:r>
            <a:endParaRPr lang="en-US" dirty="0"/>
          </a:p>
        </p:txBody>
      </p:sp>
      <p:sp>
        <p:nvSpPr>
          <p:cNvPr id="3" name="Text Placeholder 2"/>
          <p:cNvSpPr>
            <a:spLocks noGrp="1"/>
          </p:cNvSpPr>
          <p:nvPr>
            <p:ph type="body" idx="1"/>
          </p:nvPr>
        </p:nvSpPr>
        <p:spPr/>
        <p:txBody>
          <a:bodyPr>
            <a:normAutofit/>
          </a:bodyPr>
          <a:lstStyle/>
          <a:p>
            <a:r>
              <a:rPr lang="en-US" sz="2400" dirty="0" smtClean="0"/>
              <a:t> The </a:t>
            </a:r>
            <a:r>
              <a:rPr lang="en-US" sz="2400" dirty="0"/>
              <a:t>system is designed to automatically evaluate handwritten answer sheets using Artificial Intelligence and image processing techniques.</a:t>
            </a:r>
          </a:p>
          <a:p>
            <a:r>
              <a:rPr lang="en-US" sz="2400" dirty="0" smtClean="0"/>
              <a:t> </a:t>
            </a:r>
            <a:r>
              <a:rPr lang="en-US" sz="2400" dirty="0"/>
              <a:t>Students upload scanned images or photos of handwritten answer sheets through the web interface.</a:t>
            </a:r>
          </a:p>
          <a:p>
            <a:r>
              <a:rPr lang="en-US" sz="2400" dirty="0" smtClean="0"/>
              <a:t> </a:t>
            </a:r>
            <a:r>
              <a:rPr lang="en-US" sz="2400" dirty="0"/>
              <a:t>The uploaded images are preprocessed using image enhancement and noise removal techniques to improve readability.</a:t>
            </a:r>
          </a:p>
          <a:p>
            <a:r>
              <a:rPr lang="en-US" sz="2400" dirty="0" smtClean="0"/>
              <a:t> </a:t>
            </a:r>
            <a:r>
              <a:rPr lang="en-US" sz="2400" dirty="0"/>
              <a:t>Optical Character Recognition (OCR) technology is used to convert handwritten text into digital text.</a:t>
            </a:r>
          </a:p>
          <a:p>
            <a:r>
              <a:rPr lang="en-US" sz="2400" dirty="0" smtClean="0"/>
              <a:t> </a:t>
            </a:r>
            <a:r>
              <a:rPr lang="en-US" sz="2400" dirty="0"/>
              <a:t>The extracted text is analyzed using Natural Language Processing (NLP) algorithms to understand the content of the answers</a:t>
            </a:r>
            <a:r>
              <a:rPr lang="en-US" sz="2400" dirty="0" smtClean="0"/>
              <a:t>.</a:t>
            </a:r>
          </a:p>
          <a:p>
            <a:r>
              <a:rPr lang="en-US" sz="2400" dirty="0"/>
              <a:t>The system compares student answers with the model answers stored in the database.</a:t>
            </a:r>
          </a:p>
          <a:p>
            <a:pPr>
              <a:buFont typeface="Wingdings" pitchFamily="2" charset="2"/>
              <a:buChar char="Ø"/>
            </a:pPr>
            <a:endParaRPr lang="en-US" sz="2400" dirty="0"/>
          </a:p>
        </p:txBody>
      </p:sp>
    </p:spTree>
    <p:extLst>
      <p:ext uri="{BB962C8B-B14F-4D97-AF65-F5344CB8AC3E}">
        <p14:creationId xmlns:p14="http://schemas.microsoft.com/office/powerpoint/2010/main" val="16969136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a:t>
            </a:r>
            <a:endParaRPr lang="en-US" dirty="0"/>
          </a:p>
        </p:txBody>
      </p:sp>
      <p:sp>
        <p:nvSpPr>
          <p:cNvPr id="3" name="Text Placeholder 2"/>
          <p:cNvSpPr>
            <a:spLocks noGrp="1"/>
          </p:cNvSpPr>
          <p:nvPr>
            <p:ph type="body" idx="1"/>
          </p:nvPr>
        </p:nvSpPr>
        <p:spPr/>
        <p:txBody>
          <a:bodyPr>
            <a:normAutofit/>
          </a:bodyPr>
          <a:lstStyle/>
          <a:p>
            <a:pPr marL="0" indent="0">
              <a:buNone/>
            </a:pPr>
            <a:endParaRPr lang="en-US" sz="2400" dirty="0" smtClean="0"/>
          </a:p>
          <a:p>
            <a:r>
              <a:rPr lang="en-US" sz="2400" dirty="0"/>
              <a:t> </a:t>
            </a:r>
            <a:r>
              <a:rPr lang="en-US" sz="2400" dirty="0" smtClean="0"/>
              <a:t>Based </a:t>
            </a:r>
            <a:r>
              <a:rPr lang="en-US" sz="2400" dirty="0"/>
              <a:t>on similarity and keyword matching, the system automatically assigns marks to each answer.</a:t>
            </a:r>
          </a:p>
          <a:p>
            <a:r>
              <a:rPr lang="en-US" sz="2400" dirty="0" smtClean="0"/>
              <a:t> </a:t>
            </a:r>
            <a:r>
              <a:rPr lang="en-US" sz="2400" dirty="0"/>
              <a:t>The results are stored in the database and displayed on the dashboard for teachers and administrators.</a:t>
            </a:r>
          </a:p>
          <a:p>
            <a:r>
              <a:rPr lang="en-US" sz="2400" dirty="0" smtClean="0"/>
              <a:t> </a:t>
            </a:r>
            <a:r>
              <a:rPr lang="en-US" sz="2400" dirty="0"/>
              <a:t>The system also generates performance reports and analytics to help teachers understand student performance.</a:t>
            </a:r>
          </a:p>
          <a:p>
            <a:r>
              <a:rPr lang="en-US" sz="2400" dirty="0" smtClean="0"/>
              <a:t> </a:t>
            </a:r>
            <a:r>
              <a:rPr lang="en-US" sz="2400" dirty="0"/>
              <a:t>The design ensures scalability, accuracy, and faster evaluation compared to traditional manual correction methods.</a:t>
            </a:r>
          </a:p>
          <a:p>
            <a:pPr>
              <a:buFont typeface="Wingdings" pitchFamily="2" charset="2"/>
              <a:buChar char="Ø"/>
            </a:pPr>
            <a:endParaRPr lang="en-US" sz="2400" dirty="0"/>
          </a:p>
        </p:txBody>
      </p:sp>
    </p:spTree>
    <p:extLst>
      <p:ext uri="{BB962C8B-B14F-4D97-AF65-F5344CB8AC3E}">
        <p14:creationId xmlns:p14="http://schemas.microsoft.com/office/powerpoint/2010/main" val="25797303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a:t>
            </a:r>
            <a:endParaRPr lang="en-US" dirty="0"/>
          </a:p>
        </p:txBody>
      </p:sp>
      <p:pic>
        <p:nvPicPr>
          <p:cNvPr id="4" name="Picture 3">
            <a:extLst>
              <a:ext uri="{FF2B5EF4-FFF2-40B4-BE49-F238E27FC236}">
                <a16:creationId xmlns:a16="http://schemas.microsoft.com/office/drawing/2014/main" xmlns="" id="{D27C29C3-5A61-9958-A6A8-14DF3618F7C2}"/>
              </a:ext>
            </a:extLst>
          </p:cNvPr>
          <p:cNvPicPr>
            <a:picLocks noChangeAspect="1"/>
          </p:cNvPicPr>
          <p:nvPr/>
        </p:nvPicPr>
        <p:blipFill>
          <a:blip r:embed="rId2"/>
          <a:stretch>
            <a:fillRect/>
          </a:stretch>
        </p:blipFill>
        <p:spPr>
          <a:xfrm>
            <a:off x="3154680" y="1212827"/>
            <a:ext cx="5294376" cy="4664093"/>
          </a:xfrm>
          <a:prstGeom prst="rect">
            <a:avLst/>
          </a:prstGeom>
        </p:spPr>
      </p:pic>
    </p:spTree>
    <p:extLst>
      <p:ext uri="{BB962C8B-B14F-4D97-AF65-F5344CB8AC3E}">
        <p14:creationId xmlns:p14="http://schemas.microsoft.com/office/powerpoint/2010/main" val="1952664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Implementation</a:t>
            </a:r>
            <a:endParaRPr lang="en-US"/>
          </a:p>
        </p:txBody>
      </p:sp>
      <p:sp>
        <p:nvSpPr>
          <p:cNvPr id="3" name="Text Placeholder 2"/>
          <p:cNvSpPr>
            <a:spLocks noGrp="1"/>
          </p:cNvSpPr>
          <p:nvPr>
            <p:ph type="body" idx="1"/>
          </p:nvPr>
        </p:nvSpPr>
        <p:spPr/>
        <p:txBody>
          <a:bodyPr/>
          <a:lstStyle/>
          <a:p>
            <a:pPr marL="50800" indent="0">
              <a:buNone/>
            </a:pPr>
            <a:r>
              <a:rPr lang="en-US" dirty="0" smtClean="0"/>
              <a:t> </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640" y="1148315"/>
            <a:ext cx="9034312" cy="5326911"/>
          </a:xfrm>
          <a:prstGeom prst="rect">
            <a:avLst/>
          </a:prstGeom>
        </p:spPr>
      </p:pic>
    </p:spTree>
    <p:extLst>
      <p:ext uri="{BB962C8B-B14F-4D97-AF65-F5344CB8AC3E}">
        <p14:creationId xmlns:p14="http://schemas.microsoft.com/office/powerpoint/2010/main" val="28698414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Outputs</a:t>
            </a: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095" y="1184662"/>
            <a:ext cx="10058400" cy="5226854"/>
          </a:xfrm>
          <a:prstGeom prst="rect">
            <a:avLst/>
          </a:prstGeom>
        </p:spPr>
      </p:pic>
    </p:spTree>
    <p:extLst>
      <p:ext uri="{BB962C8B-B14F-4D97-AF65-F5344CB8AC3E}">
        <p14:creationId xmlns:p14="http://schemas.microsoft.com/office/powerpoint/2010/main" val="34140092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378669-9C90-CD0F-CA3A-0F628398C8A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49EC7D74-4EA6-1BB7-84B6-C1C3EE300B0F}"/>
              </a:ext>
            </a:extLst>
          </p:cNvPr>
          <p:cNvSpPr>
            <a:spLocks noGrp="1"/>
          </p:cNvSpPr>
          <p:nvPr>
            <p:ph type="title"/>
          </p:nvPr>
        </p:nvSpPr>
        <p:spPr/>
        <p:txBody>
          <a:bodyPr/>
          <a:lstStyle/>
          <a:p>
            <a:r>
              <a:rPr lang="en-US">
                <a:sym typeface="+mn-ea"/>
              </a:rPr>
              <a:t>Outputs</a:t>
            </a: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6539" y="1042494"/>
            <a:ext cx="9451817" cy="5309455"/>
          </a:xfrm>
          <a:prstGeom prst="rect">
            <a:avLst/>
          </a:prstGeom>
        </p:spPr>
      </p:pic>
    </p:spTree>
    <p:extLst>
      <p:ext uri="{BB962C8B-B14F-4D97-AF65-F5344CB8AC3E}">
        <p14:creationId xmlns:p14="http://schemas.microsoft.com/office/powerpoint/2010/main" val="23283741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Outputs</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042" y="1126360"/>
            <a:ext cx="10058400" cy="5397743"/>
          </a:xfrm>
          <a:prstGeom prst="rect">
            <a:avLst/>
          </a:prstGeom>
        </p:spPr>
      </p:pic>
    </p:spTree>
    <p:extLst>
      <p:ext uri="{BB962C8B-B14F-4D97-AF65-F5344CB8AC3E}">
        <p14:creationId xmlns:p14="http://schemas.microsoft.com/office/powerpoint/2010/main" val="203304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Outputs</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4111" y="1214530"/>
            <a:ext cx="10058400" cy="5117820"/>
          </a:xfrm>
          <a:prstGeom prst="rect">
            <a:avLst/>
          </a:prstGeom>
        </p:spPr>
      </p:pic>
    </p:spTree>
    <p:extLst>
      <p:ext uri="{BB962C8B-B14F-4D97-AF65-F5344CB8AC3E}">
        <p14:creationId xmlns:p14="http://schemas.microsoft.com/office/powerpoint/2010/main" val="6670323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Paper</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6270" y="977774"/>
            <a:ext cx="8535673" cy="5613149"/>
          </a:xfrm>
          <a:prstGeom prst="rect">
            <a:avLst/>
          </a:prstGeom>
        </p:spPr>
      </p:pic>
    </p:spTree>
    <p:extLst>
      <p:ext uri="{BB962C8B-B14F-4D97-AF65-F5344CB8AC3E}">
        <p14:creationId xmlns:p14="http://schemas.microsoft.com/office/powerpoint/2010/main" val="32086983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References</a:t>
            </a:r>
            <a:endParaRPr lang="en-US"/>
          </a:p>
        </p:txBody>
      </p:sp>
      <p:sp>
        <p:nvSpPr>
          <p:cNvPr id="3" name="Text Placeholder 2"/>
          <p:cNvSpPr>
            <a:spLocks noGrp="1"/>
          </p:cNvSpPr>
          <p:nvPr>
            <p:ph type="body" idx="1"/>
          </p:nvPr>
        </p:nvSpPr>
        <p:spPr/>
        <p:txBody>
          <a:bodyPr>
            <a:noAutofit/>
          </a:bodyPr>
          <a:lstStyle/>
          <a:p>
            <a:pPr marL="565150" indent="-514350">
              <a:lnSpc>
                <a:spcPct val="100000"/>
              </a:lnSpc>
              <a:buFont typeface="+mj-lt"/>
              <a:buAutoNum type="arabicParenR"/>
            </a:pPr>
            <a:r>
              <a:rPr lang="en-US" sz="2000" dirty="0"/>
              <a:t>Bansal, S., Gupta, V., Gupta, E., &amp; Garg, P. (2025). Evaluating Handwritten Answers Using DeepSeek: A Comparative Analysis of Deep Learning-Based Assessment. </a:t>
            </a:r>
            <a:r>
              <a:rPr lang="en-US" sz="2000" i="1" dirty="0"/>
              <a:t>International Journal of Computational Intelligence Systems</a:t>
            </a:r>
            <a:r>
              <a:rPr lang="en-US" sz="2000" dirty="0"/>
              <a:t>, </a:t>
            </a:r>
            <a:r>
              <a:rPr lang="en-US" sz="2000" i="1" dirty="0"/>
              <a:t>18</a:t>
            </a:r>
            <a:r>
              <a:rPr lang="en-US" sz="2000" dirty="0"/>
              <a:t>(1), 209.</a:t>
            </a:r>
          </a:p>
          <a:p>
            <a:pPr marL="565150" indent="-514350">
              <a:lnSpc>
                <a:spcPct val="100000"/>
              </a:lnSpc>
              <a:buFont typeface="+mj-lt"/>
              <a:buAutoNum type="arabicParenR"/>
            </a:pPr>
            <a:r>
              <a:rPr lang="en-US" sz="2000" dirty="0" err="1"/>
              <a:t>Kortemeyer</a:t>
            </a:r>
            <a:r>
              <a:rPr lang="en-US" sz="2000" dirty="0"/>
              <a:t>, G., Caspar, A., &amp; </a:t>
            </a:r>
            <a:r>
              <a:rPr lang="en-US" sz="2000" dirty="0" err="1"/>
              <a:t>Horica</a:t>
            </a:r>
            <a:r>
              <a:rPr lang="en-US" sz="2000" dirty="0"/>
              <a:t>, D. (2025). Artificial-Intelligence Grading Assistance for Handwritten Components of a Calculus Exam. </a:t>
            </a:r>
            <a:r>
              <a:rPr lang="en-US" sz="2000" i="1" dirty="0" err="1"/>
              <a:t>arXiv</a:t>
            </a:r>
            <a:r>
              <a:rPr lang="en-US" sz="2000" i="1" dirty="0"/>
              <a:t> preprint arXiv:2510.05162</a:t>
            </a:r>
            <a:r>
              <a:rPr lang="en-US" sz="2000" dirty="0"/>
              <a:t>.</a:t>
            </a:r>
          </a:p>
          <a:p>
            <a:pPr marL="565150" indent="-514350">
              <a:lnSpc>
                <a:spcPct val="100000"/>
              </a:lnSpc>
              <a:buFont typeface="+mj-lt"/>
              <a:buAutoNum type="arabicParenR"/>
            </a:pPr>
            <a:r>
              <a:rPr lang="en-US" sz="2000" dirty="0"/>
              <a:t>Cvengros, J., &amp; </a:t>
            </a:r>
            <a:r>
              <a:rPr lang="en-US" sz="2000" dirty="0" err="1"/>
              <a:t>Kortemeyer</a:t>
            </a:r>
            <a:r>
              <a:rPr lang="en-US" sz="2000" dirty="0"/>
              <a:t>, G. (2025). Assisting the grading of a handwritten general chemistry exam with artificial intelligence. </a:t>
            </a:r>
            <a:r>
              <a:rPr lang="en-US" sz="2000" i="1" dirty="0" err="1"/>
              <a:t>arXiv</a:t>
            </a:r>
            <a:r>
              <a:rPr lang="en-US" sz="2000" i="1" dirty="0"/>
              <a:t> preprint arXiv:2509.10591</a:t>
            </a:r>
            <a:r>
              <a:rPr lang="en-US" sz="2000" dirty="0"/>
              <a:t>.</a:t>
            </a:r>
          </a:p>
          <a:p>
            <a:pPr marL="565150" indent="-514350">
              <a:lnSpc>
                <a:spcPct val="100000"/>
              </a:lnSpc>
              <a:buFont typeface="+mj-lt"/>
              <a:buAutoNum type="arabicParenR"/>
            </a:pPr>
            <a:r>
              <a:rPr lang="en-US" sz="2000" dirty="0" err="1"/>
              <a:t>Ghadekar</a:t>
            </a:r>
            <a:r>
              <a:rPr lang="en-US" sz="2000" dirty="0"/>
              <a:t>, P., </a:t>
            </a:r>
            <a:r>
              <a:rPr lang="en-US" sz="2000" dirty="0" err="1"/>
              <a:t>Khanvilkar</a:t>
            </a:r>
            <a:r>
              <a:rPr lang="en-US" sz="2000" dirty="0"/>
              <a:t>, O., Kharat, J., Joshi, K., Kulkarni, T., &amp; Kulkarni, Y. (2025). Automating the grading of handwritten examinations through the integration of optical character recognition and machine learning algorithms. </a:t>
            </a:r>
            <a:r>
              <a:rPr lang="en-US" sz="2000" i="1" dirty="0"/>
              <a:t>Journal of Integrated Science and Technology</a:t>
            </a:r>
            <a:r>
              <a:rPr lang="en-US" sz="2000" dirty="0"/>
              <a:t>, </a:t>
            </a:r>
            <a:r>
              <a:rPr lang="en-US" sz="2000" i="1" dirty="0"/>
              <a:t>13</a:t>
            </a:r>
            <a:r>
              <a:rPr lang="en-US" sz="2000" dirty="0"/>
              <a:t>(6), 1128-1128.</a:t>
            </a:r>
          </a:p>
          <a:p>
            <a:pPr marL="565150" indent="-514350">
              <a:lnSpc>
                <a:spcPct val="100000"/>
              </a:lnSpc>
              <a:buFont typeface="+mj-lt"/>
              <a:buAutoNum type="arabicParenR"/>
            </a:pPr>
            <a:r>
              <a:rPr lang="en-US" sz="2000" dirty="0" err="1"/>
              <a:t>Yiğiter</a:t>
            </a:r>
            <a:r>
              <a:rPr lang="en-US" sz="2000" dirty="0"/>
              <a:t>, M., &amp; </a:t>
            </a:r>
            <a:r>
              <a:rPr lang="en-US" sz="2000" dirty="0" err="1"/>
              <a:t>Boduroğlu</a:t>
            </a:r>
            <a:r>
              <a:rPr lang="en-US" sz="2000" dirty="0"/>
              <a:t>, E. (2025). Examining the Performance of Artificial Intelligence in Scoring Students' Handwritten Responses to Open-Ended Items. </a:t>
            </a:r>
            <a:r>
              <a:rPr lang="en-US" sz="2000" i="1" dirty="0"/>
              <a:t>Education and Science</a:t>
            </a:r>
            <a:r>
              <a:rPr lang="en-US" sz="2000" dirty="0"/>
              <a:t>, </a:t>
            </a:r>
            <a:r>
              <a:rPr lang="en-US" sz="2000" i="1" dirty="0"/>
              <a:t>50</a:t>
            </a:r>
            <a:r>
              <a:rPr lang="en-US" sz="2000" dirty="0"/>
              <a:t>, 1-18.</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22575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GitHub</a:t>
            </a:r>
            <a:r>
              <a:rPr lang="en-US" dirty="0" smtClean="0"/>
              <a:t> Link</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705" y="1216828"/>
            <a:ext cx="10058400" cy="4949707"/>
          </a:xfrm>
          <a:prstGeom prst="rect">
            <a:avLst/>
          </a:prstGeom>
        </p:spPr>
      </p:pic>
    </p:spTree>
    <p:extLst>
      <p:ext uri="{BB962C8B-B14F-4D97-AF65-F5344CB8AC3E}">
        <p14:creationId xmlns:p14="http://schemas.microsoft.com/office/powerpoint/2010/main" val="36347223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099747"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Query?</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3451714"/>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8825</TotalTime>
  <Words>1342</Words>
  <Application>Microsoft Office PowerPoint</Application>
  <PresentationFormat>Custom</PresentationFormat>
  <Paragraphs>120</Paragraphs>
  <Slides>22</Slides>
  <Notes>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Custom Design</vt:lpstr>
      <vt:lpstr>PowerPoint Presentation</vt:lpstr>
      <vt:lpstr>Comments</vt:lpstr>
      <vt:lpstr>Contents</vt:lpstr>
      <vt:lpstr>Abstract</vt:lpstr>
      <vt:lpstr>Introduction</vt:lpstr>
      <vt:lpstr>Literature Survey</vt:lpstr>
      <vt:lpstr>Existing System</vt:lpstr>
      <vt:lpstr>Proposed System</vt:lpstr>
      <vt:lpstr>Planning</vt:lpstr>
      <vt:lpstr>Design</vt:lpstr>
      <vt:lpstr>Design</vt:lpstr>
      <vt:lpstr>Design</vt:lpstr>
      <vt:lpstr>Implementation</vt:lpstr>
      <vt:lpstr>Outputs</vt:lpstr>
      <vt:lpstr>Outputs</vt:lpstr>
      <vt:lpstr>Outputs</vt:lpstr>
      <vt:lpstr>Outputs</vt:lpstr>
      <vt:lpstr>Research Paper</vt:lpstr>
      <vt:lpstr>References</vt:lpstr>
      <vt:lpstr>GitHub Link</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Likhitha</dc:creator>
  <cp:lastModifiedBy>HP</cp:lastModifiedBy>
  <cp:revision>172</cp:revision>
  <dcterms:created xsi:type="dcterms:W3CDTF">2019-06-11T05:35:00Z</dcterms:created>
  <dcterms:modified xsi:type="dcterms:W3CDTF">2026-04-03T07:52:24Z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