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0"/>
  </p:notesMasterIdLst>
  <p:sldIdLst>
    <p:sldId id="256" r:id="rId2"/>
    <p:sldId id="282" r:id="rId3"/>
    <p:sldId id="257" r:id="rId4"/>
    <p:sldId id="258" r:id="rId5"/>
    <p:sldId id="259" r:id="rId6"/>
    <p:sldId id="260" r:id="rId7"/>
    <p:sldId id="264" r:id="rId8"/>
    <p:sldId id="265" r:id="rId9"/>
    <p:sldId id="281" r:id="rId10"/>
    <p:sldId id="266" r:id="rId11"/>
    <p:sldId id="274" r:id="rId12"/>
    <p:sldId id="279" r:id="rId13"/>
    <p:sldId id="276" r:id="rId14"/>
    <p:sldId id="267" r:id="rId15"/>
    <p:sldId id="268" r:id="rId16"/>
    <p:sldId id="271" r:id="rId17"/>
    <p:sldId id="270" r:id="rId18"/>
    <p:sldId id="273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F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5" d="100"/>
          <a:sy n="65" d="100"/>
        </p:scale>
        <p:origin x="-672" y="-20"/>
      </p:cViewPr>
      <p:guideLst>
        <p:guide orient="horz" pos="2160"/>
        <p:guide pos="38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255417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b="1" i="1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  <a:defRPr sz="44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  <a:defRPr/>
            </a:lvl1pPr>
            <a:lvl2pPr marL="914400" lvl="1" indent="-3810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  <a:defRPr/>
            </a:lvl2pPr>
            <a:lvl3pPr marL="1371600" lvl="2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/>
          <p:nvPr/>
        </p:nvSpPr>
        <p:spPr>
          <a:xfrm>
            <a:off x="777239" y="6642828"/>
            <a:ext cx="5654039" cy="215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Dept. of Computer Science and Engineering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31278" y="6641866"/>
            <a:ext cx="5322917" cy="216133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Srinivasa Ramanujan Institute of Technology</a:t>
            </a:r>
            <a:endParaRPr sz="1600" b="0" i="0" u="none" strike="noStrike" cap="small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11754196" y="6641865"/>
            <a:ext cx="437803" cy="21613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 b="1" i="0" u="none" strike="noStrike" cap="none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‹#›</a:t>
            </a:fld>
            <a:endParaRPr sz="16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-1" y="0"/>
            <a:ext cx="12191999" cy="232759"/>
          </a:xfrm>
          <a:prstGeom prst="rect">
            <a:avLst/>
          </a:prstGeom>
          <a:solidFill>
            <a:srgbClr val="006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1" u="none" strike="noStrike" cap="none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AI-Powered Handwritten Answer Sheet Evaluation System</a:t>
            </a:r>
            <a:endParaRPr sz="1500" b="1" i="1" u="none" strike="noStrike" cap="none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506200" y="595606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0" y="6642735"/>
            <a:ext cx="1159510" cy="215265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small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1600" b="0" i="0" u="none" strike="noStrike" cap="small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A5</a:t>
            </a:r>
            <a:endParaRPr sz="1600" b="0" i="0" u="none" strike="noStrike" cap="small"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 panose="02070309020205020404"/>
              <a:buChar char="o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7341131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51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P.PRATHIBHA</a:t>
            </a:r>
            <a:endParaRPr lang="en-US" sz="51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2800" b="0" dirty="0"/>
              <a:t>Roll No. </a:t>
            </a:r>
            <a:r>
              <a:rPr lang="en-US" b="0" dirty="0" smtClean="0"/>
              <a:t>22</a:t>
            </a:r>
            <a:r>
              <a:rPr lang="en-US" sz="2800" b="0" dirty="0" smtClean="0"/>
              <a:t>4G1A0575</a:t>
            </a:r>
            <a:endParaRPr lang="en-US" sz="2800" b="0" dirty="0"/>
          </a:p>
        </p:txBody>
      </p:sp>
      <p:sp>
        <p:nvSpPr>
          <p:cNvPr id="2" name="Subtitle 11"/>
          <p:cNvSpPr txBox="1"/>
          <p:nvPr/>
        </p:nvSpPr>
        <p:spPr>
          <a:xfrm>
            <a:off x="3394953" y="2475580"/>
            <a:ext cx="5554493" cy="8980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1600" b="0" i="1" dirty="0"/>
              <a:t>Under the guidance of</a:t>
            </a:r>
          </a:p>
          <a:p>
            <a:pPr>
              <a:spcBef>
                <a:spcPts val="200"/>
              </a:spcBef>
            </a:pPr>
            <a:r>
              <a:rPr lang="en-I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Mr.</a:t>
            </a: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C. </a:t>
            </a:r>
            <a:r>
              <a:rPr lang="en-I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Sudheer</a:t>
            </a: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Kumar, </a:t>
            </a:r>
            <a:r>
              <a:rPr lang="en-I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M.Tech</a:t>
            </a: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(</a:t>
            </a:r>
            <a:r>
              <a:rPr lang="en-IN" sz="2400" b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Ph.D</a:t>
            </a: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</a:t>
            </a:r>
          </a:p>
          <a:p>
            <a:pPr>
              <a:spcBef>
                <a:spcPts val="2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 </a:t>
            </a:r>
            <a:endParaRPr lang="en-IN" sz="1400" b="0" dirty="0"/>
          </a:p>
          <a:p>
            <a:pPr>
              <a:spcBef>
                <a:spcPts val="200"/>
              </a:spcBef>
            </a:pPr>
            <a:endParaRPr lang="en-I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200"/>
              </a:spcBef>
            </a:pPr>
            <a:r>
              <a:rPr lang="en-IN" sz="2400" b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Designa</a:t>
            </a:r>
            <a:endParaRPr lang="en-IN" sz="1400" b="0" dirty="0"/>
          </a:p>
        </p:txBody>
      </p:sp>
      <p:sp>
        <p:nvSpPr>
          <p:cNvPr id="3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</a:p>
          <a:p>
            <a:pPr>
              <a:spcBef>
                <a:spcPts val="300"/>
              </a:spcBef>
            </a:pPr>
            <a:r>
              <a:rPr lang="en-US" sz="3400" dirty="0">
                <a:effectLst/>
                <a:ea typeface="Times New Roman" panose="02020603050405020304" pitchFamily="18" charset="0"/>
              </a:rPr>
              <a:t>Autonomous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770" dirty="0" err="1"/>
              <a:t>Rotarypuram</a:t>
            </a:r>
            <a:r>
              <a:rPr lang="en-US" sz="2770" dirty="0"/>
              <a:t> Village, B K </a:t>
            </a:r>
            <a:r>
              <a:rPr lang="en-US" sz="2770" dirty="0" err="1"/>
              <a:t>Samudram</a:t>
            </a:r>
            <a:r>
              <a:rPr lang="en-US" sz="2770" dirty="0"/>
              <a:t> Mandal, </a:t>
            </a:r>
            <a:r>
              <a:rPr lang="en-US" sz="2770" dirty="0" err="1"/>
              <a:t>Ananthapuramu</a:t>
            </a:r>
            <a:r>
              <a:rPr lang="en-US" sz="2770" dirty="0"/>
              <a:t> – 515701.</a:t>
            </a:r>
          </a:p>
          <a:p>
            <a:pPr>
              <a:spcBef>
                <a:spcPts val="300"/>
              </a:spcBef>
            </a:pPr>
            <a:r>
              <a:rPr lang="en-IN" altLang="en-US" sz="2770" dirty="0"/>
              <a:t>Accredited by NBA &amp; NAAC with “A” Grade,Affiliated to JNTUA,Ananthapuramu</a:t>
            </a:r>
            <a:endParaRPr lang="en-US" sz="2770" dirty="0"/>
          </a:p>
          <a:p>
            <a:pPr>
              <a:spcAft>
                <a:spcPts val="100"/>
              </a:spcAft>
            </a:pP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5</a:t>
            </a:r>
            <a:r>
              <a:rPr lang="en-US" sz="2770" dirty="0">
                <a:solidFill>
                  <a:schemeClr val="accent1">
                    <a:lumMod val="50000"/>
                  </a:schemeClr>
                </a:solidFill>
              </a:rPr>
              <a:t>-202</a:t>
            </a:r>
            <a:r>
              <a:rPr lang="en-IN" altLang="en-US" sz="2770" dirty="0">
                <a:solidFill>
                  <a:schemeClr val="accent1">
                    <a:lumMod val="50000"/>
                  </a:schemeClr>
                </a:solidFill>
              </a:rPr>
              <a:t>6</a:t>
            </a:r>
            <a:endParaRPr lang="en-US" sz="2770" b="0" dirty="0"/>
          </a:p>
          <a:p>
            <a:endParaRPr lang="en-IN" sz="2770" b="0" dirty="0"/>
          </a:p>
        </p:txBody>
      </p:sp>
      <p:sp>
        <p:nvSpPr>
          <p:cNvPr id="8" name="Subtitle 11"/>
          <p:cNvSpPr txBox="1"/>
          <p:nvPr/>
        </p:nvSpPr>
        <p:spPr>
          <a:xfrm>
            <a:off x="4578829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6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M.SUNITHA</a:t>
            </a: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400" b="0" dirty="0"/>
              <a:t>Roll No. </a:t>
            </a:r>
            <a:r>
              <a:rPr lang="en-US" sz="1400" b="0" dirty="0" smtClean="0"/>
              <a:t>224G1A05B0</a:t>
            </a:r>
            <a:endParaRPr lang="en-US" sz="1400" b="0" dirty="0"/>
          </a:p>
        </p:txBody>
      </p:sp>
      <p:sp>
        <p:nvSpPr>
          <p:cNvPr id="10" name="Subtitle 11"/>
          <p:cNvSpPr txBox="1"/>
          <p:nvPr/>
        </p:nvSpPr>
        <p:spPr>
          <a:xfrm>
            <a:off x="1650767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sz="26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R.LIKHITHA</a:t>
            </a: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400" b="0" dirty="0"/>
              <a:t>Roll No. </a:t>
            </a:r>
            <a:r>
              <a:rPr lang="en-US" sz="1400" b="0" dirty="0" smtClean="0"/>
              <a:t>224G1A0541</a:t>
            </a:r>
            <a:endParaRPr lang="en-US" sz="1400" b="0" dirty="0"/>
          </a:p>
        </p:txBody>
      </p:sp>
      <p:sp>
        <p:nvSpPr>
          <p:cNvPr id="11" name="Rectangle: Rounded Corners 16"/>
          <p:cNvSpPr/>
          <p:nvPr/>
        </p:nvSpPr>
        <p:spPr>
          <a:xfrm>
            <a:off x="755009" y="335271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AI-Powered Handwritten Answer Sheet Evaluation System </a:t>
            </a:r>
            <a:endParaRPr lang="en-IN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7"/>
          <p:cNvSpPr/>
          <p:nvPr/>
        </p:nvSpPr>
        <p:spPr>
          <a:xfrm>
            <a:off x="2637948" y="1261696"/>
            <a:ext cx="6762303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2301" y="3477046"/>
            <a:ext cx="1527379" cy="16854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 dirty="0" smtClean="0"/>
              <a:t>Review 0 Queries</a:t>
            </a:r>
            <a:endParaRPr lang="en-US" dirty="0"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2280" lvl="0" indent="-462280">
              <a:spcBef>
                <a:spcPts val="0"/>
              </a:spcBef>
              <a:buChar char="•"/>
            </a:pPr>
            <a:endParaRPr lang="en-US" dirty="0" smtClean="0"/>
          </a:p>
          <a:p>
            <a:pPr marL="462280" lvl="0" indent="-462280">
              <a:spcBef>
                <a:spcPts val="0"/>
              </a:spcBef>
              <a:buChar char="•"/>
            </a:pPr>
            <a:r>
              <a:rPr lang="en-US" dirty="0" smtClean="0"/>
              <a:t>What </a:t>
            </a:r>
            <a:r>
              <a:rPr lang="en-US" dirty="0"/>
              <a:t>is the difference between the existing college evaluation system and our project</a:t>
            </a:r>
            <a:r>
              <a:rPr lang="en-US" dirty="0" smtClean="0"/>
              <a:t>?</a:t>
            </a:r>
          </a:p>
          <a:p>
            <a:pPr marL="462280" lvl="0" indent="-462280">
              <a:spcBef>
                <a:spcPts val="0"/>
              </a:spcBef>
              <a:buChar char="•"/>
            </a:pPr>
            <a:r>
              <a:rPr lang="en-US" dirty="0"/>
              <a:t>Have you referred to any research papers for this </a:t>
            </a:r>
            <a:r>
              <a:rPr lang="en-US"/>
              <a:t>project</a:t>
            </a:r>
            <a:r>
              <a:rPr lang="en-US" smtClean="0"/>
              <a:t>?</a:t>
            </a:r>
          </a:p>
          <a:p>
            <a:pPr marL="462280" lvl="0" indent="-462280">
              <a:spcBef>
                <a:spcPts val="0"/>
              </a:spcBef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826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 dirty="0">
                <a:sym typeface="+mn-ea"/>
              </a:rPr>
              <a:t>Title </a:t>
            </a:r>
            <a:r>
              <a:rPr lang="en-US" dirty="0" err="1">
                <a:sym typeface="+mn-ea"/>
              </a:rPr>
              <a:t>Explaination</a:t>
            </a:r>
            <a:endParaRPr lang="en-US" dirty="0"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/>
              <a:t>The </a:t>
            </a:r>
            <a:r>
              <a:rPr lang="en-US" sz="2400" b="1" dirty="0"/>
              <a:t>AI-Powered Handwritten Answer Sheet Evaluation System</a:t>
            </a:r>
            <a:r>
              <a:rPr lang="en-US" sz="2400" dirty="0"/>
              <a:t> uses </a:t>
            </a:r>
            <a:r>
              <a:rPr lang="en-US" sz="2400" b="1" dirty="0"/>
              <a:t>Artificial Intelligence</a:t>
            </a:r>
            <a:r>
              <a:rPr lang="en-US" sz="2400" dirty="0"/>
              <a:t> to automatically evaluate handwritten student answers.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Handwritten answers are converted into digital text using </a:t>
            </a:r>
            <a:r>
              <a:rPr lang="en-US" sz="2400" b="1" dirty="0"/>
              <a:t>OCR</a:t>
            </a:r>
            <a:r>
              <a:rPr lang="en-US" sz="2400" dirty="0"/>
              <a:t>, and AI compares them with </a:t>
            </a:r>
            <a:r>
              <a:rPr lang="en-US" sz="2400" b="1" dirty="0"/>
              <a:t>model answers</a:t>
            </a:r>
            <a:r>
              <a:rPr lang="en-US" sz="2400" dirty="0"/>
              <a:t> to assign marks based on </a:t>
            </a:r>
            <a:r>
              <a:rPr lang="en-US" sz="2400" b="1" dirty="0"/>
              <a:t>accuracy and relevance</a:t>
            </a:r>
            <a:r>
              <a:rPr lang="en-US" sz="2400" dirty="0"/>
              <a:t>.</a:t>
            </a:r>
            <a:br>
              <a:rPr lang="en-US" sz="2400" dirty="0"/>
            </a:br>
            <a:r>
              <a:rPr lang="en-US" sz="2400" dirty="0"/>
              <a:t>This system reduces </a:t>
            </a:r>
            <a:r>
              <a:rPr lang="en-US" sz="2400" dirty="0" smtClean="0"/>
              <a:t>teachers</a:t>
            </a:r>
            <a:r>
              <a:rPr lang="en-US" sz="2400" dirty="0"/>
              <a:t>’ manual work and provides </a:t>
            </a:r>
            <a:r>
              <a:rPr lang="en-US" sz="2400" b="1" dirty="0"/>
              <a:t>faster, fair, and consistent evaluation</a:t>
            </a:r>
            <a:r>
              <a:rPr lang="en-US" sz="2400" dirty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It is useful for educational institutions to </a:t>
            </a:r>
            <a:r>
              <a:rPr lang="en-US" sz="2400" b="1" dirty="0"/>
              <a:t>automate exam evaluation</a:t>
            </a:r>
            <a:r>
              <a:rPr lang="en-US" sz="2400" dirty="0"/>
              <a:t> while maintaining quality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/>
              <a:t>The main goal of this project is to: </a:t>
            </a:r>
            <a:endParaRPr lang="en-US" sz="2400" dirty="0" smtClean="0"/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Reduce </a:t>
            </a:r>
            <a:r>
              <a:rPr lang="en-US" sz="2400" dirty="0"/>
              <a:t>manual effort of teachers </a:t>
            </a:r>
            <a:endParaRPr lang="en-US" sz="2400" dirty="0" smtClean="0"/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Ensure </a:t>
            </a:r>
            <a:r>
              <a:rPr lang="en-US" sz="2400" dirty="0"/>
              <a:t>faster, fair, and unbiased evaluation </a:t>
            </a:r>
            <a:endParaRPr lang="en-US" sz="2400" dirty="0" smtClean="0"/>
          </a:p>
          <a:p>
            <a:pPr lvl="1">
              <a:buFont typeface="Arial" pitchFamily="34" charset="0"/>
              <a:buChar char="•"/>
            </a:pPr>
            <a:r>
              <a:rPr lang="en-US" sz="2400" dirty="0" smtClean="0"/>
              <a:t>Improve </a:t>
            </a:r>
            <a:r>
              <a:rPr lang="en-US" sz="2400" dirty="0"/>
              <a:t>consistency and accuracy in answer sheet assessment</a:t>
            </a:r>
          </a:p>
          <a:p>
            <a:pPr marL="50800" indent="0">
              <a:buNone/>
            </a:pPr>
            <a:endParaRPr lang="en-US" sz="2400" dirty="0"/>
          </a:p>
        </p:txBody>
      </p:sp>
      <p:sp>
        <p:nvSpPr>
          <p:cNvPr id="2" name="Text Box 1"/>
          <p:cNvSpPr txBox="1"/>
          <p:nvPr/>
        </p:nvSpPr>
        <p:spPr>
          <a:xfrm>
            <a:off x="5078095" y="11493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 dirty="0"/>
              <a:t>Contents</a:t>
            </a:r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2280" lvl="0" indent="-46228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Abstract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Introduction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Software Requirements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Datasets/Modules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Implementation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Outputs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Conclusion</a:t>
            </a:r>
          </a:p>
          <a:p>
            <a:pPr marL="462280" lvl="0" indent="-46228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References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-2" y="232759"/>
            <a:ext cx="12192000" cy="714892"/>
          </a:xfrm>
          <a:prstGeom prst="rect">
            <a:avLst/>
          </a:prstGeom>
          <a:solidFill>
            <a:srgbClr val="FF6600"/>
          </a:solidFill>
          <a:ln>
            <a:noFill/>
          </a:ln>
          <a:effectLst>
            <a:outerShdw blurRad="44450" dist="27940" dir="5400000" algn="ctr">
              <a:srgbClr val="000000">
                <a:alpha val="31764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Times New Roman" panose="02020603050405020304"/>
              <a:buNone/>
            </a:pPr>
            <a:r>
              <a:rPr lang="en-US">
                <a:sym typeface="+mn-ea"/>
              </a:rPr>
              <a:t>Abstract</a:t>
            </a:r>
            <a:endParaRPr lang="en-US"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199505" y="1097279"/>
            <a:ext cx="11779135" cy="5394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Introduction:</a:t>
            </a:r>
            <a:r>
              <a:rPr lang="en-US" dirty="0"/>
              <a:t> Manual evaluation of handwritten answer sheets is time-consuming and may lead to inconsistency and human error.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Research Gap:</a:t>
            </a:r>
            <a:r>
              <a:rPr lang="en-US" dirty="0"/>
              <a:t> Existing systems focus on digital or keyword-based evaluation and lack accurate assessment of handwritten descriptive answers.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Methodology Used</a:t>
            </a:r>
            <a:r>
              <a:rPr lang="en-US" b="1" dirty="0"/>
              <a:t>:</a:t>
            </a:r>
            <a:r>
              <a:rPr lang="en-US" dirty="0"/>
              <a:t> Handwritten answers are scanned, converted to text using </a:t>
            </a:r>
            <a:r>
              <a:rPr lang="en-US" b="1" dirty="0"/>
              <a:t>OCR</a:t>
            </a:r>
            <a:r>
              <a:rPr lang="en-US" dirty="0"/>
              <a:t>, and evaluated using </a:t>
            </a:r>
            <a:r>
              <a:rPr lang="en-US" b="1" dirty="0"/>
              <a:t>AI techniques</a:t>
            </a:r>
            <a:r>
              <a:rPr lang="en-US" dirty="0"/>
              <a:t> by comparing them with model answers.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Result:</a:t>
            </a:r>
            <a:r>
              <a:rPr lang="en-US" dirty="0"/>
              <a:t> The system provides faster evaluation with improved accuracy and consistent marking compared to manual correction.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Conclusion:</a:t>
            </a:r>
            <a:r>
              <a:rPr lang="en-US" dirty="0"/>
              <a:t> The proposed system reduces teacher workload and enables fair, automated answer sheet evaluation for educational institutions.</a:t>
            </a: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Introduction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The AI-Powered Handwritten Answer Sheet Evaluation System is designed to automatically evaluate handwritten student answers using Artificial Intelligence, reducing the need for manual correction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Manual evaluation of answer sheets is time-consuming, requires a lot of effort from teachers, and may result in inconsistent or biased marking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With the increasing number of students and exams, there is a strong need for an automated, accurate, and fair evaluation system that can handle handwritten answers efficiently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The project aims to improve evaluation speed, accuracy, and consistency while reducing the workload on educators.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Software Requirements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 b="1" dirty="0" smtClean="0"/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Programming </a:t>
            </a:r>
            <a:r>
              <a:rPr lang="en-US" b="1" dirty="0"/>
              <a:t>Languages</a:t>
            </a:r>
            <a:r>
              <a:rPr lang="en-US" b="1" dirty="0" smtClean="0"/>
              <a:t>: </a:t>
            </a:r>
            <a:r>
              <a:rPr lang="en-US" dirty="0"/>
              <a:t>Python, HTML, CSS, </a:t>
            </a:r>
            <a:r>
              <a:rPr lang="en-US" dirty="0" smtClean="0"/>
              <a:t>JavaScript</a:t>
            </a:r>
          </a:p>
          <a:p>
            <a:pPr>
              <a:buFont typeface="Wingdings" pitchFamily="2" charset="2"/>
              <a:buChar char="Ø"/>
            </a:pPr>
            <a:r>
              <a:rPr lang="en-US" b="1" dirty="0" smtClean="0"/>
              <a:t>AI </a:t>
            </a:r>
            <a:r>
              <a:rPr lang="en-US" b="1" dirty="0"/>
              <a:t>ML Libraries: </a:t>
            </a:r>
            <a:r>
              <a:rPr lang="en-US" dirty="0" err="1"/>
              <a:t>Scikit</a:t>
            </a:r>
            <a:r>
              <a:rPr lang="en-US" dirty="0"/>
              <a:t>-learn (for model development</a:t>
            </a:r>
            <a:r>
              <a:rPr lang="en-US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OCR Tool: </a:t>
            </a:r>
            <a:r>
              <a:rPr lang="en-US" dirty="0" err="1"/>
              <a:t>Tesseract</a:t>
            </a:r>
            <a:r>
              <a:rPr lang="en-US" dirty="0"/>
              <a:t> OCR (for handwritten text recognition</a:t>
            </a:r>
            <a:r>
              <a:rPr lang="en-US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Web Framework: </a:t>
            </a:r>
            <a:r>
              <a:rPr lang="en-US" dirty="0" smtClean="0"/>
              <a:t>Flask </a:t>
            </a:r>
            <a:r>
              <a:rPr lang="en-US" dirty="0"/>
              <a:t>(for application development</a:t>
            </a:r>
            <a:r>
              <a:rPr lang="en-US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Database: </a:t>
            </a:r>
            <a:r>
              <a:rPr lang="en-US" dirty="0"/>
              <a:t>SQLite (for storing student data and results</a:t>
            </a:r>
            <a:r>
              <a:rPr lang="en-US" dirty="0" smtClean="0"/>
              <a:t>)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Development Tools: </a:t>
            </a:r>
            <a:r>
              <a:rPr lang="en-US" dirty="0"/>
              <a:t>VS Code, </a:t>
            </a:r>
            <a:r>
              <a:rPr lang="en-US" dirty="0" err="1"/>
              <a:t>Jupyter</a:t>
            </a:r>
            <a:r>
              <a:rPr lang="en-US" dirty="0"/>
              <a:t> </a:t>
            </a:r>
            <a:r>
              <a:rPr lang="en-US" dirty="0" smtClean="0"/>
              <a:t>Notebook</a:t>
            </a:r>
          </a:p>
          <a:p>
            <a:pPr>
              <a:buFont typeface="Wingdings" pitchFamily="2" charset="2"/>
              <a:buChar char="Ø"/>
            </a:pPr>
            <a:r>
              <a:rPr lang="en-US" b="1" dirty="0"/>
              <a:t>Operating System: </a:t>
            </a:r>
            <a:r>
              <a:rPr lang="en-US" dirty="0"/>
              <a:t>Windows</a:t>
            </a:r>
            <a:endParaRPr lang="en-US" b="1" dirty="0" smtClean="0"/>
          </a:p>
          <a:p>
            <a:pPr marL="50800" indent="0">
              <a:buNone/>
            </a:pPr>
            <a:endParaRPr lang="en-US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Datasets/Modules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r>
              <a:rPr lang="en-US" dirty="0" smtClean="0"/>
              <a:t>Consists </a:t>
            </a:r>
            <a:r>
              <a:rPr lang="en-US" dirty="0"/>
              <a:t>of handwritten student answer sheets uploaded in PDF format.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PDFs contain scanned pages of descriptive handwritten answers.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Includes multiple handwriting styles and variations in writing quality.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Model answers provided by faculty are used as reference data.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PDF files are converted into images/text during preprocessing for OCR.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Dataset is used for text extraction and AI-based answer evaluation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4527" y="1306552"/>
            <a:ext cx="7702946" cy="5023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4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 smtClean="0"/>
              <a:t>Use Case Diagram: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0410" y="1245139"/>
            <a:ext cx="3854518" cy="50000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 smtClean="0"/>
              <a:t>Class Diagram: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2076" y="1186774"/>
            <a:ext cx="1848255" cy="510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7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 smtClean="0"/>
              <a:t>Sequence Diagram: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265" y="1828798"/>
            <a:ext cx="5727461" cy="444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317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Implementation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 smtClean="0"/>
              <a:t>Activity Diagram: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166" y="1084286"/>
            <a:ext cx="3112851" cy="541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7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Outputs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7123" y="1449637"/>
            <a:ext cx="5753396" cy="47563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/>
              <a:t>The project successfully automates the evaluation of handwritten answer sheets using AI and OCR technologies.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It reduces manual effort of teachers and ensures faster and consistent answer evaluation.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The system improves accuracy and fairness in marking descriptive answers.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In the future, the system can be enhanced to support multiple languages and subjects.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Advanced AI models and cloud deployment can be added to handle large-scale examinations.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References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5000"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altLang="en-US" b="1" dirty="0" smtClean="0"/>
              <a:t>Book</a:t>
            </a:r>
            <a:endParaRPr lang="en-US" altLang="en-US" dirty="0"/>
          </a:p>
          <a:p>
            <a:pPr lvl="1"/>
            <a:r>
              <a:rPr lang="en-US" dirty="0" smtClean="0"/>
              <a:t>[1]  J</a:t>
            </a:r>
            <a:r>
              <a:rPr lang="en-US" dirty="0"/>
              <a:t>. D. Kelleher, Deep Learning. 2nd ed., Cambridge: MIT Press, </a:t>
            </a:r>
            <a:r>
              <a:rPr lang="en-US" dirty="0" smtClean="0"/>
              <a:t>2024</a:t>
            </a:r>
            <a:r>
              <a:rPr lang="en-US" dirty="0"/>
              <a:t>.</a:t>
            </a:r>
            <a:endParaRPr lang="en-US" altLang="en-US" dirty="0"/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Journal Article</a:t>
            </a:r>
          </a:p>
          <a:p>
            <a:pPr lvl="1"/>
            <a:r>
              <a:rPr lang="en-US" altLang="en-US" dirty="0"/>
              <a:t>[2] </a:t>
            </a:r>
            <a:r>
              <a:rPr lang="en-US" dirty="0"/>
              <a:t>A. </a:t>
            </a:r>
            <a:r>
              <a:rPr lang="en-US" dirty="0" err="1"/>
              <a:t>Hiremath</a:t>
            </a:r>
            <a:r>
              <a:rPr lang="en-US" dirty="0"/>
              <a:t>, N. </a:t>
            </a:r>
            <a:r>
              <a:rPr lang="en-US" dirty="0" err="1"/>
              <a:t>Irabatti</a:t>
            </a:r>
            <a:r>
              <a:rPr lang="en-US" dirty="0"/>
              <a:t>, A. Desai, P. </a:t>
            </a:r>
            <a:r>
              <a:rPr lang="en-US" dirty="0" err="1"/>
              <a:t>Dhondge</a:t>
            </a:r>
            <a:r>
              <a:rPr lang="en-US" dirty="0"/>
              <a:t>, and S. Sheikh, “Transforming handwritten answer assessment: A multi-modal approach combining text detection, handwriting recognition, and language models,” Journal of Emerging Technologies and Innovative Research, vol. 11, no. 6, pp. 1–12, June 2024</a:t>
            </a:r>
            <a:r>
              <a:rPr lang="en-US" dirty="0" smtClean="0"/>
              <a:t>. </a:t>
            </a:r>
            <a:endParaRPr lang="en-US" altLang="en-US" dirty="0"/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Newspaper article</a:t>
            </a:r>
          </a:p>
          <a:p>
            <a:pPr lvl="1"/>
            <a:r>
              <a:rPr lang="en-US" altLang="en-US" dirty="0"/>
              <a:t>[3] </a:t>
            </a:r>
            <a:r>
              <a:rPr lang="en-US" dirty="0"/>
              <a:t>K. D. Smith, “AI reshapes student evaluations and assessments,” The New York Times, vol. 175, pp. A1, A10, Nov. 20, 2025</a:t>
            </a:r>
            <a:r>
              <a:rPr lang="en-US" dirty="0" smtClean="0"/>
              <a:t>.</a:t>
            </a:r>
            <a:endParaRPr lang="en-US" altLang="en-US" dirty="0"/>
          </a:p>
          <a:p>
            <a:pPr>
              <a:buFont typeface="Wingdings" pitchFamily="2" charset="2"/>
              <a:buChar char="Ø"/>
            </a:pPr>
            <a:r>
              <a:rPr lang="en-US" altLang="en-US" b="1" dirty="0"/>
              <a:t>Technical Report</a:t>
            </a:r>
          </a:p>
          <a:p>
            <a:pPr lvl="1"/>
            <a:r>
              <a:rPr lang="en-US" altLang="en-US" dirty="0"/>
              <a:t>[4] </a:t>
            </a:r>
            <a:r>
              <a:rPr lang="en-US" dirty="0"/>
              <a:t>R. M. </a:t>
            </a:r>
            <a:r>
              <a:rPr lang="en-US" dirty="0" err="1"/>
              <a:t>Byalal</a:t>
            </a:r>
            <a:r>
              <a:rPr lang="en-US" dirty="0"/>
              <a:t>, H. P. D. </a:t>
            </a:r>
            <a:r>
              <a:rPr lang="en-US" dirty="0" err="1"/>
              <a:t>Urs</a:t>
            </a:r>
            <a:r>
              <a:rPr lang="en-US" dirty="0"/>
              <a:t>, K. M. </a:t>
            </a:r>
            <a:r>
              <a:rPr lang="en-US" dirty="0" err="1"/>
              <a:t>Ankumaar</a:t>
            </a:r>
            <a:r>
              <a:rPr lang="en-US" dirty="0"/>
              <a:t>, K. K. </a:t>
            </a:r>
            <a:r>
              <a:rPr lang="en-US" dirty="0" err="1"/>
              <a:t>Nayak</a:t>
            </a:r>
            <a:r>
              <a:rPr lang="en-US" dirty="0"/>
              <a:t>, and S. </a:t>
            </a:r>
            <a:r>
              <a:rPr lang="en-US" dirty="0" err="1"/>
              <a:t>Sheshagiri</a:t>
            </a:r>
            <a:r>
              <a:rPr lang="en-US" dirty="0"/>
              <a:t>, “AI-Driven Automated Answer Script Evaluation System: A Literature Review,” Int. J. Sci. </a:t>
            </a:r>
            <a:r>
              <a:rPr lang="en-US" dirty="0" err="1"/>
              <a:t>Inno</a:t>
            </a:r>
            <a:r>
              <a:rPr lang="en-US" dirty="0"/>
              <a:t>. Eng., Technical Report, vol. 2, no. 11, pp. 1198–1201, Nov. </a:t>
            </a:r>
            <a:r>
              <a:rPr lang="en-US" dirty="0" smtClean="0"/>
              <a:t>2025.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2308860"/>
            <a:ext cx="12192635" cy="2952750"/>
          </a:xfrm>
        </p:spPr>
        <p:txBody>
          <a:bodyPr/>
          <a:lstStyle/>
          <a:p>
            <a:pPr marL="50800" indent="0" algn="ctr">
              <a:buNone/>
            </a:pPr>
            <a:r>
              <a:rPr lang="en-US" sz="128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0" y="2308860"/>
            <a:ext cx="12192635" cy="2952750"/>
          </a:xfrm>
        </p:spPr>
        <p:txBody>
          <a:bodyPr/>
          <a:lstStyle/>
          <a:p>
            <a:pPr marL="50800" indent="0" algn="ctr">
              <a:buNone/>
            </a:pPr>
            <a:r>
              <a:rPr lang="en-US" sz="12800" i="1">
                <a:ln w="15875"/>
                <a:solidFill>
                  <a:srgbClr val="F78F07"/>
                </a:solidFill>
                <a:effectLst/>
                <a:latin typeface="Verdana" panose="020B0604030504040204" charset="0"/>
                <a:cs typeface="Verdana" panose="020B0604030504040204" charset="0"/>
              </a:rPr>
              <a:t>Any Queries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Design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806</Words>
  <Application>Microsoft Office PowerPoint</Application>
  <PresentationFormat>Custom</PresentationFormat>
  <Paragraphs>98</Paragraphs>
  <Slides>18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Custom Design</vt:lpstr>
      <vt:lpstr>PowerPoint Presentation</vt:lpstr>
      <vt:lpstr>Review 0 Queries</vt:lpstr>
      <vt:lpstr>Title Explaination</vt:lpstr>
      <vt:lpstr>Contents</vt:lpstr>
      <vt:lpstr>Abstract</vt:lpstr>
      <vt:lpstr>Introduction</vt:lpstr>
      <vt:lpstr>Software Requirements</vt:lpstr>
      <vt:lpstr>Datasets/Modules</vt:lpstr>
      <vt:lpstr>Implementation</vt:lpstr>
      <vt:lpstr>Implementation</vt:lpstr>
      <vt:lpstr>Implementation</vt:lpstr>
      <vt:lpstr>Implementation</vt:lpstr>
      <vt:lpstr>Implementation</vt:lpstr>
      <vt:lpstr>Outputs</vt:lpstr>
      <vt:lpstr>Conclusion</vt:lpstr>
      <vt:lpstr>References</vt:lpstr>
      <vt:lpstr> 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 ❤️ L</dc:creator>
  <cp:lastModifiedBy>HP</cp:lastModifiedBy>
  <cp:revision>42</cp:revision>
  <dcterms:created xsi:type="dcterms:W3CDTF">2025-03-06T07:29:00Z</dcterms:created>
  <dcterms:modified xsi:type="dcterms:W3CDTF">2026-01-30T15:08:03Z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8A58E4632DEF4CE798132557BA146826_13</vt:lpwstr>
  </property>
  <property fmtid="{D5CDD505-2E9C-101B-9397-08002B2CF9AE}" pid="3" name="KSOProductBuildVer">
    <vt:lpwstr>1033-12.2.0.23196</vt:lpwstr>
  </property>
</Properties>
</file>